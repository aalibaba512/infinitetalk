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600" y="1955800"/>
            <a:ext cx="39116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8CE04A"/>
                </a:solidFill>
                <a:latin typeface="Poppins"/>
              </a:rPr>
              <a:t>A PROPOSAL FOR THE TELECOM FOUNDATION EDUCATION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6985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Poppins"/>
              </a:rPr>
              <a:t>The notebook
that </a:t>
            </a:r>
            <a:r>
              <a:rPr sz="4600" b="1" i="0">
                <a:solidFill>
                  <a:srgbClr val="8CE04A"/>
                </a:solidFill>
                <a:latin typeface="Poppins"/>
              </a:rPr>
              <a:t>teaches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02099"/>
            <a:ext cx="622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  <a:latin typeface="Poppins"/>
              </a:rPr>
              <a:t>A QR code on every subject notebook turns a finished chapter into a quiz, a rank, and a merit bursary — across all 16 TEFOS schools.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7100" y="5207000"/>
            <a:ext cx="1016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Chapter quizzes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5207000"/>
            <a:ext cx="94615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Merit bursaries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7450" y="5207000"/>
            <a:ext cx="16129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Inter-school championship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13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99BDA9"/>
                </a:solidFill>
                <a:latin typeface="Poppins"/>
              </a:rPr>
              <a:t>TEFOS QUIZ  ·  NOTEBOOK QR PROGRAMME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7400" y="64135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8CE04A"/>
                </a:solidFill>
                <a:latin typeface="Poppins"/>
              </a:rPr>
              <a:t>Transforming Communities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99BDA9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600" y="812800"/>
            <a:ext cx="15875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8CE04A"/>
                </a:solidFill>
                <a:latin typeface="Poppins"/>
              </a:rPr>
              <a:t>THE IDEA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270000"/>
            <a:ext cx="444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6C453"/>
                </a:solidFill>
                <a:latin typeface="Bebas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7200" y="1270000"/>
            <a:ext cx="622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oppins"/>
              </a:rPr>
              <a:t>A student finishes Chapter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057400"/>
            <a:ext cx="444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6C453"/>
                </a:solidFill>
                <a:latin typeface="Bebas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7200" y="2057400"/>
            <a:ext cx="622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oppins"/>
              </a:rPr>
              <a:t>They scan the book they are already holding.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2844800"/>
            <a:ext cx="444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6C453"/>
                </a:solidFill>
                <a:latin typeface="Bebas Neue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7200" y="2844800"/>
            <a:ext cx="622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oppins"/>
              </a:rPr>
              <a:t>They answer four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3632200"/>
            <a:ext cx="444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6C453"/>
                </a:solidFill>
                <a:latin typeface="Bebas Neue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7200" y="3632200"/>
            <a:ext cx="622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oppins"/>
              </a:rPr>
              <a:t>They earn points toward next month's bursary.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0" y="1905000"/>
            <a:ext cx="2603500" cy="1279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No app.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No signup.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No form.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No behaviour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0" y="3619500"/>
            <a:ext cx="260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CE04A"/>
                </a:solidFill>
                <a:latin typeface="Poppins"/>
              </a:rPr>
              <a:t>— which is precisely why it will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99BDA9"/>
                </a:solidFill>
                <a:latin typeface="Poppins"/>
              </a:rPr>
              <a:t>Everything in this deck exists to protect those four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9080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The QR code is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already in the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This is the only marketing surface a school owns that the student touches voluntarily,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600" y="20066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241A"/>
                </a:solidFill>
                <a:latin typeface="Poppins"/>
              </a:rPr>
              <a:t>It meets the student at peak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4600" y="2222500"/>
            <a:ext cx="55245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They have just finished the chapter. The book is open. The page is right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4600" y="32385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241A"/>
                </a:solidFill>
                <a:latin typeface="Poppins"/>
              </a:rPr>
              <a:t>It requires zero new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4600" y="3454400"/>
            <a:ext cx="55245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No app to download, no code to memorise, no website to visit, no reminder to send.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4600" y="44704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241A"/>
                </a:solidFill>
                <a:latin typeface="Poppins"/>
              </a:rPr>
              <a:t>It travels home and gets photographed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4600" y="4686300"/>
            <a:ext cx="55245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It sits open on a desk where visitors see it, and ends up in photos, on desks, in parents' houses.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8399" y="2095499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Every other school channel is a push.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71800"/>
            <a:ext cx="3429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F5ED"/>
                </a:solidFill>
                <a:latin typeface="Poppins"/>
              </a:rPr>
              <a:t>Newsletters get ignored.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63900"/>
            <a:ext cx="3429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F5ED"/>
                </a:solidFill>
                <a:latin typeface="Poppins"/>
              </a:rPr>
              <a:t>Flyers get binned.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56000"/>
            <a:ext cx="3429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F5ED"/>
                </a:solidFill>
                <a:latin typeface="Poppins"/>
              </a:rPr>
              <a:t>Apps get deleted.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399" y="4699000"/>
            <a:ext cx="190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62B1C"/>
                </a:solidFill>
                <a:latin typeface="Poppins"/>
              </a:rPr>
              <a:t>✦  This one is a pull.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Compare: a school newsletter competes with everything. A QR in a textbook competes with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STUDENT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5176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STUDENT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Five steps. About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ninety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30500"/>
            <a:ext cx="2052320" cy="37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7CC040"/>
                </a:solidFill>
                <a:latin typeface="Bebas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86100"/>
            <a:ext cx="205232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241A"/>
                </a:solidFill>
                <a:latin typeface="Poppins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378200"/>
            <a:ext cx="174751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486054"/>
                </a:solidFill>
                <a:latin typeface="Poppins"/>
              </a:rPr>
              <a:t>The QR on the cover of any subject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9720" y="2730500"/>
            <a:ext cx="2052320" cy="37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7CC040"/>
                </a:solidFill>
                <a:latin typeface="Bebas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9720" y="3086100"/>
            <a:ext cx="205232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241A"/>
                </a:solidFill>
                <a:latin typeface="Poppins"/>
              </a:rPr>
              <a:t>Enter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2120" y="3378200"/>
            <a:ext cx="174751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486054"/>
                </a:solidFill>
                <a:latin typeface="Poppins"/>
              </a:rPr>
              <a:t>Six characters printed inside the front cover.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9840" y="2730500"/>
            <a:ext cx="2052320" cy="37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7CC040"/>
                </a:solidFill>
                <a:latin typeface="Bebas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9840" y="3086100"/>
            <a:ext cx="205232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241A"/>
                </a:solidFill>
                <a:latin typeface="Poppins"/>
              </a:rPr>
              <a:t>Pick chapter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2240" y="3378200"/>
            <a:ext cx="174751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486054"/>
                </a:solidFill>
                <a:latin typeface="Poppins"/>
              </a:rPr>
              <a:t>The one they just finished. Tap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9959" y="2730500"/>
            <a:ext cx="2052320" cy="37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7CC040"/>
                </a:solidFill>
                <a:latin typeface="Bebas Neu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9959" y="3086100"/>
            <a:ext cx="205232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241A"/>
                </a:solidFill>
                <a:latin typeface="Poppins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3378200"/>
            <a:ext cx="174751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486054"/>
                </a:solidFill>
                <a:latin typeface="Poppins"/>
              </a:rPr>
              <a:t>Five questions, mostly about their own class.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0080" y="2730500"/>
            <a:ext cx="2052320" cy="37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7CC040"/>
                </a:solidFill>
                <a:latin typeface="Bebas Neue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0080" y="3086100"/>
            <a:ext cx="205232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241A"/>
                </a:solidFill>
                <a:latin typeface="Poppins"/>
              </a:rPr>
              <a:t>Rank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2480" y="3378200"/>
            <a:ext cx="174751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486054"/>
                </a:solidFill>
                <a:latin typeface="Poppins"/>
              </a:rPr>
              <a:t>Points, a rank tier, and a place on the 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300" y="4978400"/>
            <a:ext cx="102743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25" b="1" i="0">
                <a:solidFill>
                  <a:srgbClr val="008450"/>
                </a:solidFill>
                <a:latin typeface="Poppins"/>
              </a:rPr>
              <a:t>There is no step six. </a:t>
            </a:r>
            <a:r>
              <a:rPr sz="925" b="0" i="0">
                <a:solidFill>
                  <a:srgbClr val="0F241A"/>
                </a:solidFill>
                <a:latin typeface="Poppins"/>
              </a:rPr>
              <a:t>That is the entire design. Everything in this proposal exists to keep students at step five.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Average completion in the prototype: 1 minute 32 seconds, on a five-year-old Android over 3G.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PARTICIPATION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7716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PARTICIPATION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Five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non-negotiable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Break any one of these and the programme dies quietly within a term.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201930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1841500"/>
            <a:ext cx="330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Points are never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1841500"/>
            <a:ext cx="6350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A student who tries and gets it wrong must never end up worse off than one who never scanned.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281940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2641600"/>
            <a:ext cx="330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Participation earns the first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0" y="2641600"/>
            <a:ext cx="6350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A student who takes part always has an identity, even at zero percent.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361950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0000" y="3441700"/>
            <a:ext cx="330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Only a first attempt moves the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600" y="3441700"/>
            <a:ext cx="6350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Retries pay a little, so nobody is locked out — but nobody can farm the board.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441960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0000" y="4241800"/>
            <a:ext cx="330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Show growth, not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00" y="4241800"/>
            <a:ext cx="6350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“You gained 180 points”, not “you are 2,400 short” — unless the gap is genuinely reachable.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521970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5041900"/>
            <a:ext cx="330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Never publish only the 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600" y="5041900"/>
            <a:ext cx="6350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Champions, most improved, and participation rate. Always all three.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Each rule is enforced in code, not in policy — the database refuses to break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THE ARITHMETIC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24257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ONE NUMBER THAT MATTERS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Punishing a wrong answer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kills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The arithmetic below is the single most important line in this proposal.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209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C93838"/>
                </a:solidFill>
                <a:latin typeface="Poppins"/>
              </a:rPr>
              <a:t>AS ORIGINALLY SPECIFIED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387600"/>
            <a:ext cx="4978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241A"/>
                </a:solidFill>
                <a:latin typeface="Poppins"/>
              </a:rPr>
              <a:t>+10 correct   ·   −5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575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5 of 5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28575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8450"/>
                </a:solidFill>
                <a:latin typeface="Poppins"/>
              </a:rPr>
              <a:t>+50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1623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3 of 5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31623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99621"/>
                </a:solidFill>
                <a:latin typeface="Poppins"/>
              </a:rPr>
              <a:t>+5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4671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2 of 5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34671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C93838"/>
                </a:solidFill>
                <a:latin typeface="Poppins"/>
              </a:rPr>
              <a:t>−5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7719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All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37719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C93838"/>
                </a:solidFill>
                <a:latin typeface="Poppins"/>
              </a:rPr>
              <a:t>−25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076699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Never scanned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400" y="4076699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A9285"/>
                </a:solidFill>
                <a:latin typeface="Poppin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4800" y="21209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AS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87600"/>
            <a:ext cx="4978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41A"/>
                </a:solidFill>
                <a:latin typeface="Poppins"/>
              </a:rPr>
              <a:t>+10  ·  0  ·  +3 retry  ·  +25 perfect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575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All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2400" y="28575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8450"/>
                </a:solidFill>
                <a:latin typeface="Poppins"/>
              </a:rPr>
              <a:t>+75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623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Half 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2400" y="31623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8450"/>
                </a:solidFill>
                <a:latin typeface="Poppins"/>
              </a:rPr>
              <a:t>+25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671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Two of five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0" y="34671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A9285"/>
                </a:solidFill>
                <a:latin typeface="Poppins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71900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All wrong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2400" y="3771900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A9285"/>
                </a:solidFill>
                <a:latin typeface="Poppin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76699"/>
            <a:ext cx="25400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86054"/>
                </a:solidFill>
                <a:latin typeface="Poppins"/>
              </a:rPr>
              <a:t>Never scanned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2400" y="4076699"/>
            <a:ext cx="101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7A9285"/>
                </a:solidFill>
                <a:latin typeface="Poppin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6500" y="4762500"/>
            <a:ext cx="101473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With negatives, a student who scans and does badly is worse off than one who ignores the book entirely. The programme punishes exactly the behaviour it needs most.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The floor is 0. Scanning always beats not scanning — and the only route to the top is accuracy on first 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RANK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9588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RANK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Spark to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Galaxy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Every student has an identity. Nobody sits in a dead zone below the first rung.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67200"/>
            <a:ext cx="10668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F241A"/>
                </a:solidFill>
                <a:latin typeface="Poppins"/>
              </a:rPr>
              <a:t>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45000"/>
            <a:ext cx="106680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F241A"/>
                </a:solidFill>
                <a:latin typeface="Poppins"/>
              </a:rPr>
              <a:t>Any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9900" y="3873499"/>
            <a:ext cx="10668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F241A"/>
                </a:solidFill>
                <a:latin typeface="Poppins"/>
              </a:rPr>
              <a:t>Rising Star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9900" y="4051300"/>
            <a:ext cx="106680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F241A"/>
                </a:solidFill>
                <a:latin typeface="Poppins"/>
              </a:rPr>
              <a:t>30%+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0200" y="3479800"/>
            <a:ext cx="10668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F241A"/>
                </a:solidFill>
                <a:latin typeface="Poppins"/>
              </a:rPr>
              <a:t>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0200" y="3657600"/>
            <a:ext cx="106680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F241A"/>
                </a:solidFill>
                <a:latin typeface="Poppins"/>
              </a:rPr>
              <a:t>50%+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0" y="3086100"/>
            <a:ext cx="10668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F241A"/>
                </a:solidFill>
                <a:latin typeface="Poppins"/>
              </a:rPr>
              <a:t>Bright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0" y="3263900"/>
            <a:ext cx="106680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F241A"/>
                </a:solidFill>
                <a:latin typeface="Poppins"/>
              </a:rPr>
              <a:t>70%+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0800" y="2692400"/>
            <a:ext cx="10668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F241A"/>
                </a:solidFill>
                <a:latin typeface="Poppins"/>
              </a:rPr>
              <a:t>Supernova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0800" y="2870200"/>
            <a:ext cx="106680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F241A"/>
                </a:solidFill>
                <a:latin typeface="Poppins"/>
              </a:rPr>
              <a:t>85%+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1100" y="2298700"/>
            <a:ext cx="1066800" cy="197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F241A"/>
                </a:solidFill>
                <a:latin typeface="Poppins"/>
              </a:rPr>
              <a:t>Galaxy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100" y="2476500"/>
            <a:ext cx="106680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F241A"/>
                </a:solidFill>
                <a:latin typeface="Poppins"/>
              </a:rPr>
              <a:t>95%+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673600"/>
            <a:ext cx="679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486054"/>
                </a:solidFill>
                <a:latin typeface="Poppins"/>
              </a:rPr>
              <a:t>Rank = points earned ÷ points available. Tier appears after 5 chapters attempted.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3700" y="21209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C93838"/>
                </a:solidFill>
                <a:latin typeface="Poppins"/>
              </a:rPr>
              <a:t>THE ACTIVITY FLOOR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6999" y="2413000"/>
            <a:ext cx="3644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75" b="0" i="0">
                <a:solidFill>
                  <a:srgbClr val="0F241A"/>
                </a:solidFill>
                <a:latin typeface="Poppins"/>
              </a:rPr>
              <a:t>Rank is points earned ÷ points available — never a raw average — and only appears after 5 chapters attempted.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6999" y="3086100"/>
            <a:ext cx="3644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 i="0">
                <a:solidFill>
                  <a:srgbClr val="486054"/>
                </a:solidFill>
                <a:latin typeface="Poppins"/>
              </a:rPr>
              <a:t>Without the floor, a student sits one easy quiz, scores 95% and quits — and out-ranks the student who showed up every week.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3700" y="4140200"/>
            <a:ext cx="33909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1" i="0">
                <a:solidFill>
                  <a:srgbClr val="D99621"/>
                </a:solidFill>
                <a:latin typeface="Poppins"/>
              </a:rPr>
              <a:t>Bug we found and fixed: </a:t>
            </a:r>
            <a:r>
              <a:rPr sz="775" b="0" i="0">
                <a:solidFill>
                  <a:srgbClr val="0F241A"/>
                </a:solidFill>
                <a:latin typeface="Poppins"/>
              </a:rPr>
              <a:t>the floor applied to the data but not to the screen — a one-quiz student still read “Galaxy” on their own result. Now the displayed tier is clamped too.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Participation alone earns the first rank. The programme dies if the bottom half decides there is nothing to play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WHAT STUDENTS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6319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WHAT THE STUDENT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Three screens,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ninety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953000"/>
            <a:ext cx="2870200" cy="22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The chapter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5245100"/>
            <a:ext cx="3149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Every subject, every chapter, one tap to 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953000"/>
            <a:ext cx="2870200" cy="22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The payoff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200" y="5245100"/>
            <a:ext cx="3149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Points, rank tier, and how far they have come this 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4953000"/>
            <a:ext cx="2870200" cy="22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41A"/>
                </a:solidFill>
                <a:latin typeface="Poppins"/>
              </a:rPr>
              <a:t>The 16-school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0" y="5245100"/>
            <a:ext cx="3149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All campuses together — plus the reach line, shown only when 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Server-rendered HTML, ~40 lines of JavaScript, 2.5 KB per quiz page. Works on any 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7937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A quiz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nobody can 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Half the questions are about things that happened in that specific classroom, that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209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7A9285"/>
                </a:solidFill>
                <a:latin typeface="Poppins"/>
              </a:rPr>
              <a:t>THE USUAL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38400"/>
            <a:ext cx="500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41A"/>
                </a:solidFill>
                <a:latin typeface="Poppins"/>
              </a:rPr>
              <a:t>“A body travels 120 m in 15 s at constant speed. What is its speed?”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175000"/>
            <a:ext cx="5003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Searchable in four seconds. The prize goes to whoever has the fastest internet connection and the most willing relatives.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4800" y="21209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F6C453"/>
                </a:solidFill>
                <a:latin typeface="Poppins"/>
              </a:rPr>
              <a:t>THE KIND WE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100" y="2438400"/>
            <a:ext cx="500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oppins"/>
              </a:rPr>
              <a:t>“On the first day of the Motion unit, which classroom activity did we do?”</a:t>
            </a:r>
          </a:p>
          <a:p>
            <a:pPr algn="l"/>
            <a:r>
              <a:rPr sz="950" b="1" i="0">
                <a:solidFill>
                  <a:srgbClr val="FFFFFF"/>
                </a:solidFill>
                <a:latin typeface="Poppins"/>
              </a:rPr>
              <a:t>“Our lab report was due on which date?”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100" y="3365500"/>
            <a:ext cx="500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CE04A"/>
                </a:solidFill>
                <a:latin typeface="Poppins"/>
              </a:rPr>
              <a:t>Nobody can search these. Only a student who was there can answer — we are paying for attention, not for guessing.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813300"/>
            <a:ext cx="26289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08450"/>
                </a:solidFill>
                <a:latin typeface="Poppin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5156200"/>
            <a:ext cx="24257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answer keys sent to any 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0900" y="4813300"/>
            <a:ext cx="26289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08450"/>
                </a:solidFill>
                <a:latin typeface="Poppi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5156200"/>
            <a:ext cx="24257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chapters before a rank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813300"/>
            <a:ext cx="26289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08450"/>
                </a:solidFill>
                <a:latin typeface="Poppi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5156200"/>
            <a:ext cx="24257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first attempt per chapter,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0" y="4813300"/>
            <a:ext cx="26289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D99621"/>
                </a:solidFill>
                <a:latin typeface="Poppins"/>
              </a:rPr>
              <a:t>2.5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5100" y="5156200"/>
            <a:ext cx="24257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per quiz page, gzipped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Options are shuffled server-side on every request; the start time is HMAC-signed so the timer cannot be dodged.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927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Show growth. Show the gap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only when it is reachable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The most common mistake in school gamification is telling a child exactly how far they are from winning.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971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540000"/>
            <a:ext cx="3158066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41A"/>
                </a:solidFill>
                <a:latin typeface="Poppins"/>
              </a:rPr>
              <a:t>“You are 180 points ahead of where you were last month.”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619500"/>
            <a:ext cx="31580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Progress against yourself. This is what sustains effort.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3666" y="21971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D99621"/>
                </a:solidFill>
                <a:latin typeface="Poppins"/>
              </a:rPr>
              <a:t>ONLY IF REACHABLE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6966" y="2540000"/>
            <a:ext cx="3158066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41A"/>
                </a:solidFill>
                <a:latin typeface="Poppins"/>
              </a:rPr>
              <a:t>“240 more points puts you on the top 10 board.”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6966" y="3619500"/>
            <a:ext cx="31580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A real nudge, shown only to students within striking distance.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0533" y="21971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C93838"/>
                </a:solidFill>
                <a:latin typeface="Poppins"/>
              </a:rPr>
              <a:t>NEVER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3833" y="2540000"/>
            <a:ext cx="3158066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41A"/>
                </a:solidFill>
                <a:latin typeface="Poppins"/>
              </a:rPr>
              <a:t>“You are 2,400 points short of the board.”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3833" y="3619500"/>
            <a:ext cx="31580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The gap is too big to close, so the rational move is to stop trying.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4600" y="47371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8450"/>
                </a:solidFill>
                <a:latin typeface="Poppins"/>
              </a:rPr>
              <a:t>Publish three boards, always.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89500"/>
            <a:ext cx="1587500" cy="205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241A"/>
                </a:solidFill>
                <a:latin typeface="Poppins"/>
              </a:rPr>
              <a:t>Champions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054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5" b="0" i="0">
                <a:solidFill>
                  <a:srgbClr val="486054"/>
                </a:solidFill>
                <a:latin typeface="Poppins"/>
              </a:rPr>
              <a:t>Top scorers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7900" y="4889500"/>
            <a:ext cx="1587500" cy="205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241A"/>
                </a:solidFill>
                <a:latin typeface="Poppins"/>
              </a:rPr>
              <a:t>Most improved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7900" y="51054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5" b="0" i="0">
                <a:solidFill>
                  <a:srgbClr val="486054"/>
                </a:solidFill>
                <a:latin typeface="Poppins"/>
              </a:rPr>
              <a:t>Biggest monthly 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6600" y="4889500"/>
            <a:ext cx="1587500" cy="205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241A"/>
                </a:solidFill>
                <a:latin typeface="Poppins"/>
              </a:rPr>
              <a:t>Participation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6600" y="51054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5" b="0" i="0">
                <a:solidFill>
                  <a:srgbClr val="486054"/>
                </a:solidFill>
                <a:latin typeface="Poppins"/>
              </a:rPr>
              <a:t>How many took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The third board is scored on participation, not scores — which gives smaller and weaker campuses a genuine way to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THE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1303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The school pays in tuition credit,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not 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This is the trick that makes the whole programme affordable at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209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13000"/>
            <a:ext cx="5003800" cy="343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241A"/>
                </a:solidFill>
                <a:latin typeface="Poppins"/>
              </a:rPr>
              <a:t>Merit bursary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94000"/>
            <a:ext cx="500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241A"/>
                </a:solidFill>
                <a:latin typeface="Poppins"/>
              </a:rPr>
              <a:t>Up to 10 bursaries a month, each worth up to 10% of one month's tuition fee, awarded on points earned.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79800"/>
            <a:ext cx="5003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86054"/>
                </a:solidFill>
                <a:latin typeface="Poppins"/>
              </a:rPr>
              <a:t>Cost to the school: foregone revenue on a student who already pays. Budgetable, capped, predictable.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4800" y="2120900"/>
            <a:ext cx="317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C93838"/>
                </a:solidFill>
                <a:latin typeface="Poppins"/>
              </a:rPr>
              <a:t>WHAT IT MUST NOT BE CALLED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100" y="2413000"/>
            <a:ext cx="5003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41A"/>
                </a:solidFill>
                <a:latin typeface="Poppins"/>
              </a:rPr>
              <a:t>“Students earn their own fee.”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100" y="2794000"/>
            <a:ext cx="5003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241A"/>
                </a:solidFill>
                <a:latin typeface="Poppins"/>
              </a:rPr>
              <a:t>Identical budget. But it replaces a student election with a leaderboard, invites fee-regulation scrutiny, and reads badly in a newspaper.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8100" y="3556000"/>
            <a:ext cx="5003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86054"/>
                </a:solidFill>
                <a:latin typeface="Poppins"/>
              </a:rPr>
              <a:t>Same money, completely different posture.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8100" y="4445000"/>
            <a:ext cx="100203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99621"/>
                </a:solidFill>
                <a:latin typeface="Poppins"/>
              </a:rPr>
              <a:t>The honest caveat: </a:t>
            </a:r>
            <a:r>
              <a:rPr sz="900" b="0" i="0">
                <a:solidFill>
                  <a:srgbClr val="0F241A"/>
                </a:solidFill>
                <a:latin typeface="Poppins"/>
              </a:rPr>
              <a:t>a bursary helps a wealthy family more than a poor one, because a rich family can absorb the fee. Keep a small, separately-funded need-based component — and let sponsors underwrite that, because it is the strongest education-access outcome report 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Cap the total value at 0.5–1% of annual fee revenue. Publish the cap.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6540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Three cadences,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three different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A yearly reward attached to a daily habit is how engagement dies around week six.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159000"/>
            <a:ext cx="1016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25" b="1" i="0">
                <a:solidFill>
                  <a:srgbClr val="008450"/>
                </a:solidFill>
                <a:latin typeface="Poppins"/>
              </a:rPr>
              <a:t>WEEKLY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667000"/>
            <a:ext cx="3158066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41A"/>
                </a:solidFill>
                <a:latin typeface="Poppins"/>
              </a:rPr>
              <a:t>Star of the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40100"/>
            <a:ext cx="3158066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Recognition only. House points, a name on the school board, and nothing else. Theatre, and that is fine — as long as nobody expects cash.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6966" y="2159000"/>
            <a:ext cx="1016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25" b="1" i="0">
                <a:solidFill>
                  <a:srgbClr val="D99621"/>
                </a:solidFill>
                <a:latin typeface="Poppins"/>
              </a:rPr>
              <a:t>MONTHLY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6966" y="2667000"/>
            <a:ext cx="3158066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41A"/>
                </a:solidFill>
                <a:latin typeface="Poppins"/>
              </a:rPr>
              <a:t>The merit bursary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6966" y="3340100"/>
            <a:ext cx="3158066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The real reward. Fee credit, published, capped, and actually paid. This is the one that parents care about.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3833" y="2159000"/>
            <a:ext cx="1016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25" b="1" i="0">
                <a:solidFill>
                  <a:srgbClr val="00683E"/>
                </a:solidFill>
                <a:latin typeface="Poppins"/>
              </a:rPr>
              <a:t>EVERY 2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3833" y="2667000"/>
            <a:ext cx="3158066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241A"/>
                </a:solidFill>
                <a:latin typeface="Poppins"/>
              </a:rPr>
              <a:t>The inter-school championship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3833" y="3340100"/>
            <a:ext cx="3158066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The big one. Sixteen campuses, trophies, a ceremony, and a camera. This is what sponsors pay for.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300" y="4864100"/>
            <a:ext cx="102743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25" b="1" i="0">
                <a:solidFill>
                  <a:srgbClr val="008450"/>
                </a:solidFill>
                <a:latin typeface="Poppins"/>
              </a:rPr>
              <a:t>The monthly rhythm is what keeps the notebook open. </a:t>
            </a:r>
            <a:r>
              <a:rPr sz="925" b="0" i="0">
                <a:solidFill>
                  <a:srgbClr val="0F241A"/>
                </a:solidFill>
                <a:latin typeface="Poppins"/>
              </a:rPr>
              <a:t>The championship is the photo opportunity. Neither replaces the other.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Weekly = habit. Monthly = reward. Bi-monthly = 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THE BIG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0350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BIG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8450"/>
                </a:solidFill>
                <a:latin typeface="Poppins"/>
              </a:rPr>
              <a:t>Sixteen school champions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, not five finalists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A live online final for 48 finalists is how you end up with a cheating scandal and a dead programme.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20900"/>
            <a:ext cx="317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PHASE 1  ·  SCHOOL 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13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41A"/>
                </a:solidFill>
                <a:latin typeface="Poppins"/>
              </a:rPr>
              <a:t>Two weeks, asynchronous, in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17800"/>
            <a:ext cx="50038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Every student in the class can enter. Same questions, done in their own time inside a two-week window. No timing pressure, no dropped connections, no proctoring — and participation stays near total.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4800" y="2120900"/>
            <a:ext cx="317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F6C453"/>
                </a:solidFill>
                <a:latin typeface="Poppins"/>
              </a:rPr>
              <a:t>PHASE 2  ·  CITY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100" y="2413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Sixteen students. One afternoon.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100" y="2717800"/>
            <a:ext cx="50038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E8F5ED"/>
                </a:solidFill>
                <a:latin typeface="Poppins"/>
              </a:rPr>
              <a:t>One champion per school. Live, but sixteen people, all on campus, on good connections, with staff in the room. Genuinely manageable — and it makes a real ceremony worth filming.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4127500"/>
            <a:ext cx="256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5" b="1" i="0">
                <a:solidFill>
                  <a:srgbClr val="FFFFFF"/>
                </a:solidFill>
                <a:latin typeface="Poppins"/>
              </a:rPr>
              <a:t>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4127500"/>
            <a:ext cx="6502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5" b="1" i="0">
                <a:solidFill>
                  <a:srgbClr val="FFFFFF"/>
                </a:solidFill>
                <a:latin typeface="Poppins"/>
              </a:rP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1600" y="4127500"/>
            <a:ext cx="12192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5" b="1" i="0">
                <a:solidFill>
                  <a:srgbClr val="FFFFFF"/>
                </a:solidFill>
                <a:latin typeface="Poppins"/>
              </a:rPr>
              <a:t>How 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" y="4445000"/>
            <a:ext cx="23368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School champion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0" y="4445000"/>
            <a:ext cx="6502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Bursary + trophy + name on the school banner + a slot in the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1600" y="4445000"/>
            <a:ext cx="12192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" y="4762500"/>
            <a:ext cx="23368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City winner 1–3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0600" y="4762500"/>
            <a:ext cx="6502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Laptop or tablet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1600" y="4762500"/>
            <a:ext cx="12192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" y="5080000"/>
            <a:ext cx="23368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City 4–5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600" y="5080000"/>
            <a:ext cx="6502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Fee waiver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1600" y="5080000"/>
            <a:ext cx="12192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200" y="5397500"/>
            <a:ext cx="23368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Top school of the term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0600" y="5397500"/>
            <a:ext cx="6502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Inter-school trophy and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1600" y="5397500"/>
            <a:ext cx="12192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Sixteen champions means sixteen proud schools — and sixteen ceremonies' worth of photographs.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THE PRIZE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2128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PRIZE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Rewarding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the middle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, not just the 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The top 20% are already motivated by grades. The programme lives or dies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1905000"/>
            <a:ext cx="218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9600" y="1905000"/>
            <a:ext cx="307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1905000"/>
            <a:ext cx="91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4600" y="19050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438400"/>
            <a:ext cx="195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Anyone taking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9600" y="2438400"/>
            <a:ext cx="307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Badge, name on the monthly board, a branded bookmark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2438400"/>
            <a:ext cx="91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Monthly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4600" y="24384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Participation is the goal, so reward the act of participating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195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50%+ (the middle half)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9600" y="2971800"/>
            <a:ext cx="307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Merit bursary — real money off the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971800"/>
            <a:ext cx="91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Monthly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4600" y="29718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The largest group, the biggest family impact, easiest for sponsors to 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" y="3505200"/>
            <a:ext cx="195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70%+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9600" y="3505200"/>
            <a:ext cx="307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Certificate and merit gear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600" y="3505200"/>
            <a:ext cx="91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Monthly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4600" y="35052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Recognition, not 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200" y="4038600"/>
            <a:ext cx="195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Top 1 per year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00" y="4038600"/>
            <a:ext cx="307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Laptop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1600" y="4038600"/>
            <a:ext cx="91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Annual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4600" y="40386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A real trophy — eight winners, not one, which removes the incentive to cheat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00" y="4572000"/>
            <a:ext cx="195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House champion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9600" y="4572000"/>
            <a:ext cx="307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Trophy at the ceremony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1600" y="4572000"/>
            <a:ext cx="914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Annual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4600" y="45720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The photo opportunity, and the sponsor's logo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4600" y="5372100"/>
            <a:ext cx="10083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93838"/>
                </a:solidFill>
                <a:latin typeface="Poppins"/>
              </a:rPr>
              <a:t>Removed: </a:t>
            </a:r>
            <a:r>
              <a:rPr sz="900" b="0" i="0">
                <a:solidFill>
                  <a:srgbClr val="0F241A"/>
                </a:solidFill>
                <a:latin typeface="Poppins"/>
              </a:rPr>
              <a:t>“a branded pen for 40%.” It tells a child they did badly and hands them a consolation prize. That is worse than giving nothing.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Eight laptops, not one. Spreading the top prize across year groups is what makes cheating pointless.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MARKETING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5557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THE MARKETING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Every printed batch carries its own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tracked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This is how the school answers the only question that matters: which notebooks actually worked?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600" y="2070100"/>
            <a:ext cx="5524500" cy="262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6C453"/>
                </a:solidFill>
                <a:latin typeface="DejaVu Sans Mono"/>
              </a:rPr>
              <a:t>https://&lt;host&gt;/t/{batch}/{subject}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4600" y="2413000"/>
            <a:ext cx="552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9BDA9"/>
                </a:solidFill>
                <a:latin typeface="Poppins"/>
              </a:rPr>
              <a:t>→  redirects to the code entry screen, and records the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4600" y="32131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241A"/>
                </a:solidFill>
                <a:latin typeface="Poppins"/>
              </a:rPr>
              <a:t>One link per print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4600" y="3429000"/>
            <a:ext cx="5524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Main campus Physics vs Capital campus Maths are separately attributable from day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4600" y="40132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241A"/>
                </a:solidFill>
                <a:latin typeface="Poppins"/>
              </a:rPr>
              <a:t>Measured, not guessed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4600" y="4229100"/>
            <a:ext cx="5524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Scans, participation and average score per batch, per campus, per subject — the real marketing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4600" y="4813300"/>
            <a:ext cx="5524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241A"/>
                </a:solidFill>
                <a:latin typeface="Poppins"/>
              </a:rPr>
              <a:t>Zero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4600" y="5029200"/>
            <a:ext cx="5524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The tracking is a line of code. There is no extra spend to attribute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199" y="2171700"/>
            <a:ext cx="3784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F6C453"/>
                </a:solidFill>
                <a:latin typeface="Poppins"/>
              </a:rPr>
              <a:t>AND THE BIGGEST LEVER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000" y="2540000"/>
            <a:ext cx="401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Zero-rated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0" y="2984500"/>
            <a:ext cx="40132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5" b="0" i="0">
                <a:solidFill>
                  <a:srgbClr val="FFFFFF"/>
                </a:solidFill>
                <a:latin typeface="Poppins"/>
              </a:rPr>
              <a:t>Students are on metered mobile data. If the operator zero-rates this host, participation does not improve slightly — it changes order of magnitude.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6000" y="4127500"/>
            <a:ext cx="4013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8CE04A"/>
                </a:solidFill>
                <a:latin typeface="Poppins"/>
              </a:rPr>
              <a:t>A full quiz page already costs 2.5 KB gzipped, so this is a cheap ask with an enormous ceiling. It is the single most valuable thing an affiliated operator can contribute.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report.js prints scans and participation by print batch — the question marketing has never been able to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SPONSORSHIP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9842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SPONSORSHIP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Sixteen schools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changes the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Stop selling “logo on a quiz”. Sell the championship.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20900"/>
            <a:ext cx="317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C93838"/>
                </a:solidFill>
                <a:latin typeface="Poppins"/>
              </a:rPr>
              <a:t>WHAT DOES NOT SELL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13000"/>
            <a:ext cx="5003800" cy="262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41A"/>
                </a:solidFill>
                <a:latin typeface="Poppins"/>
              </a:rPr>
              <a:t>“Put your logo on our quiz.”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30500"/>
            <a:ext cx="50038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This is a marketing sponsorship. Education CSR budgets are earmarked for scholarships, infrastructure and teaching — a completely different budget line at most corporates.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4800" y="2120900"/>
            <a:ext cx="317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WHAT SELLS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100" y="2413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41A"/>
                </a:solidFill>
                <a:latin typeface="Poppins"/>
              </a:rPr>
              <a:t>“Title sponsor of a 16-school championship.”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100" y="2730500"/>
            <a:ext cx="50038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486054"/>
                </a:solidFill>
                <a:latin typeface="Poppins"/>
              </a:rPr>
              <a:t>16 campuses, 2,000+ students, a recurring streamed event, trophies, media coverage, and a clean education-access outcome story. That is a headline CSR asset.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4064000"/>
            <a:ext cx="2311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5" b="1" i="0">
                <a:solidFill>
                  <a:srgbClr val="FFFFFF"/>
                </a:solidFill>
                <a:latin typeface="Poppins"/>
              </a:rPr>
              <a:t>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6600" y="4064000"/>
            <a:ext cx="6680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5" b="1" i="0">
                <a:solidFill>
                  <a:srgbClr val="FFFFFF"/>
                </a:solidFill>
                <a:latin typeface="Poppins"/>
              </a:rPr>
              <a:t>What they 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40640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5" b="1" i="0">
                <a:solidFill>
                  <a:srgbClr val="FFFFFF"/>
                </a:solidFill>
                <a:latin typeface="Poppins"/>
              </a:rPr>
              <a:t>How easy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" y="4419600"/>
            <a:ext cx="2082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Scholarship 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600" y="4419600"/>
            <a:ext cx="6680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“We underwrite N merit bursaries” — maps perfectly to education-access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5400" y="44196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Easiest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" y="4775200"/>
            <a:ext cx="2082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In-kind prizes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600" y="4775200"/>
            <a:ext cx="6680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Printers, tablets, ISP kit, local vouchers — hugely valuable, almost no cash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0" y="47752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Very easy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" y="5130800"/>
            <a:ext cx="2082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Named prize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600" y="5130800"/>
            <a:ext cx="6680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“This month's top scorer wins a [brand] kit”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5400" y="51308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Moderate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200" y="5486400"/>
            <a:ext cx="2082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F241A"/>
                </a:solidFill>
                <a:latin typeface="Poppins"/>
              </a:rPr>
              <a:t>Presented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600" y="5486400"/>
            <a:ext cx="6680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Title sponsor of the biennial championship ceremony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5400" y="54864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F241A"/>
                </a:solidFill>
                <a:latin typeface="Poppins"/>
              </a:rPr>
              <a:t>Moderate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Rule: run phase 1 with zero sponsors. The bursary model already funds the core. Sponsors are upside, not the business case.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PRIVACY &amp; SAFEGUARDING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8542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PRIVACY AND SAFEGUARDING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Built GDPR-K grade,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Pakistan has no enacted statute comparable to GDPR or COPPA. That is not a licence to collect loosely.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1905000"/>
            <a:ext cx="3556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F241A"/>
                </a:solidFill>
                <a:latin typeface="Poppins"/>
              </a:rPr>
              <a:t>Nothing personal is ever typed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1905000"/>
            <a:ext cx="64008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No signup form. No name, no father's name, no class, no roll number. The student enters a 6-character printed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2692400"/>
            <a:ext cx="3556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F241A"/>
                </a:solidFill>
                <a:latin typeface="Poppins"/>
              </a:rPr>
              <a:t>Nothing identifying is ever shown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1100" y="2692400"/>
            <a:ext cx="64008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Public boards show first name and campus only. No guardian names, no student numbers, no photographs.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3479800"/>
            <a:ext cx="3556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F241A"/>
                </a:solidFill>
                <a:latin typeface="Poppins"/>
              </a:rPr>
              <a:t>Every point is traceable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1100" y="3479800"/>
            <a:ext cx="64008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The points ledger is append-only. A parent can audit every single point their child has ever been awarded.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0000" y="4267200"/>
            <a:ext cx="3556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F241A"/>
                </a:solidFill>
                <a:latin typeface="Poppins"/>
              </a:rPr>
              <a:t>A child can always reach an adult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1100" y="4267200"/>
            <a:ext cx="64008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The front office number is printed inside the front cover, permanently, regardless of what the server is doing.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4600" y="5181600"/>
            <a:ext cx="10083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75" b="1" i="0">
                <a:solidFill>
                  <a:srgbClr val="D99621"/>
                </a:solidFill>
                <a:latin typeface="Poppins"/>
              </a:rPr>
              <a:t>Before launch: </a:t>
            </a:r>
            <a:r>
              <a:rPr sz="875" b="0" i="0">
                <a:solidFill>
                  <a:srgbClr val="0F241A"/>
                </a:solidFill>
                <a:latin typeface="Poppins"/>
              </a:rPr>
              <a:t>obtain parental consent at enrolment, publish a plain-language privacy notice inside the front cover, and confirm ICT Directorate guidance with local counsel.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Login is rate-limited to 10 tries per 15 minutes per IP; codes are rotatable per student.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8382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241A"/>
                </a:solidFill>
                <a:latin typeface="Poppins"/>
              </a:rPr>
              <a:t>Four phases, and a </a:t>
            </a:r>
            <a:r>
              <a:rPr sz="2200" b="1" i="0">
                <a:solidFill>
                  <a:srgbClr val="008450"/>
                </a:solidFill>
                <a:latin typeface="Poppins"/>
              </a:rPr>
              <a:t>kill switch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 at every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2070100"/>
            <a:ext cx="178435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008450"/>
                </a:solidFill>
                <a:latin typeface="Poppin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2235200"/>
            <a:ext cx="1784350" cy="262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41A"/>
                </a:solidFill>
                <a:latin typeface="Poppins"/>
              </a:rPr>
              <a:t>4–6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2603500"/>
            <a:ext cx="2254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One subject, one chapter, one class. No sponsors, no ceremony, no bursary. The only question: will they scan?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7650" y="2070100"/>
            <a:ext cx="178435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008450"/>
                </a:solidFill>
                <a:latin typeface="Poppin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7650" y="2235200"/>
            <a:ext cx="1784350" cy="262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41A"/>
                </a:solidFill>
                <a:latin typeface="Poppins"/>
              </a:rPr>
              <a:t>Months 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050" y="2603500"/>
            <a:ext cx="2254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All subjects. Weekly house boards. First merit bursary actually paid out. Teacher dashboard switched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5300" y="2070100"/>
            <a:ext cx="178435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D99621"/>
                </a:solidFill>
                <a:latin typeface="Poppins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5300" y="2235200"/>
            <a:ext cx="1784350" cy="262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41A"/>
                </a:solidFill>
                <a:latin typeface="Poppins"/>
              </a:rPr>
              <a:t>Months 4–6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2603500"/>
            <a:ext cx="2254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First inter-school championship. Ceremonies, trophies, and the first sponsorship conversation.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2950" y="2070100"/>
            <a:ext cx="178435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00683E"/>
                </a:solidFill>
                <a:latin typeface="Poppins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2950" y="2235200"/>
            <a:ext cx="1784350" cy="262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41A"/>
                </a:solidFill>
                <a:latin typeface="Poppins"/>
              </a:rPr>
              <a:t>Year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0350" y="2603500"/>
            <a:ext cx="2254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86054"/>
                </a:solidFill>
                <a:latin typeface="Poppins"/>
              </a:rPr>
              <a:t>Championship becomes a fixture. Sponsor renews. New campus cohorts onboarded.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8100" y="4775200"/>
            <a:ext cx="100203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6C453"/>
                </a:solidFill>
                <a:latin typeface="Poppins"/>
              </a:rPr>
              <a:t>The kill switch. </a:t>
            </a:r>
            <a:r>
              <a:rPr sz="950" b="0" i="0">
                <a:solidFill>
                  <a:srgbClr val="FFFFFF"/>
                </a:solidFill>
                <a:latin typeface="Poppins"/>
              </a:rPr>
              <a:t>If monthly participation is below 50% at the end of phase 1, stop and fix it. Do not scale a weak programme across 16 campuses — that is how a good idea dies of bad management rather than bad design.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Phase 1 needs one volunteer science teacher — not the most eager head of department.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0223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8450"/>
                </a:solidFill>
                <a:latin typeface="Poppins"/>
              </a:rPr>
              <a:t>One number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 decides whether this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486054"/>
                </a:solidFill>
                <a:latin typeface="Poppins"/>
              </a:rPr>
              <a:t>Track it weekly. Everything else is diagnostic.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700" y="21336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F6C453"/>
                </a:solidFill>
                <a:latin typeface="Poppins"/>
              </a:rPr>
              <a:t>MONTHLY PARTICIPATION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3876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F5ED"/>
                </a:solidFill>
                <a:latin typeface="Poppins"/>
              </a:rPr>
              <a:t>Share of enrolled students who opened at least one chapter this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5146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FF7A7A"/>
                </a:solidFill>
                <a:latin typeface="Poppins"/>
              </a:rPr>
              <a:t>Below 25%</a:t>
            </a:r>
          </a:p>
          <a:p>
            <a:pPr algn="l"/>
            <a:r>
              <a:rPr sz="700" b="1" i="0">
                <a:solidFill>
                  <a:srgbClr val="FF7A7A"/>
                </a:solidFill>
                <a:latin typeface="Poppins"/>
              </a:rPr>
              <a:t>At risk — stop and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0" y="25146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>
                <a:solidFill>
                  <a:srgbClr val="8CE04A"/>
                </a:solidFill>
                <a:latin typeface="Poppins"/>
              </a:rPr>
              <a:t>Above 50%</a:t>
            </a:r>
          </a:p>
          <a:p>
            <a:pPr algn="r"/>
            <a:r>
              <a:rPr sz="700" b="1" i="0">
                <a:solidFill>
                  <a:srgbClr val="8CE04A"/>
                </a:solidFill>
                <a:latin typeface="Poppins"/>
              </a:rPr>
              <a:t>On track —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2057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99BDA9"/>
                </a:solidFill>
                <a:latin typeface="Poppins"/>
              </a:rPr>
              <a:t>0%                                                     25%                                             50%                                                                           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3213100"/>
            <a:ext cx="3073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What we also 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600" y="3213100"/>
            <a:ext cx="5359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6600" y="3213100"/>
            <a:ext cx="1854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Who acts on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3619500"/>
            <a:ext cx="2844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Participation rate per campus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8600" y="3619500"/>
            <a:ext cx="5359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Which campuses are engaged, and which need a teacher's nudge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6600" y="3619500"/>
            <a:ext cx="1854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Campus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4025900"/>
            <a:ext cx="2844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Scans per printed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8600" y="4025900"/>
            <a:ext cx="5359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Which notebook print run actually worked — the marketing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6600" y="4025900"/>
            <a:ext cx="1854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Marketing / HQ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4432300"/>
            <a:ext cx="2844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Average score per chapter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4432300"/>
            <a:ext cx="5359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Which chapters the cohort actually struggles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6600" y="4432300"/>
            <a:ext cx="1854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Subject teacher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838700"/>
            <a:ext cx="2844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Share of students reaching 50%+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8600" y="4838700"/>
            <a:ext cx="5359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Whether the programme is lifting the middle, not just the 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600" y="4838700"/>
            <a:ext cx="1854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Head of school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00" y="5245100"/>
            <a:ext cx="2844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Points redeemed as bursary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8600" y="5245100"/>
            <a:ext cx="5359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Actual cost to the school, against the 0.5–1% 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6600" y="5245100"/>
            <a:ext cx="1854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The teacher-facing report is not a by-product. It is the reason teachers support the programme instead of quietly resenting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486054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486054"/>
                </a:solidFill>
                <a:latin typeface="Poppins"/>
              </a:rPr>
              <a:t>WHAT IT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008450"/>
                </a:solidFill>
                <a:latin typeface="Poppins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35000"/>
            <a:ext cx="10922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008450"/>
                </a:solidFill>
                <a:latin typeface="Poppins"/>
              </a:rPr>
              <a:t>WHAT IT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636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8450"/>
                </a:solidFill>
                <a:latin typeface="Poppins"/>
              </a:rPr>
              <a:t>Almost nothing</a:t>
            </a:r>
            <a:r>
              <a:rPr sz="2200" b="1" i="0">
                <a:solidFill>
                  <a:srgbClr val="0F241A"/>
                </a:solidFill>
                <a:latin typeface="Poppins"/>
              </a:rPr>
              <a:t> to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1714500"/>
            <a:ext cx="3327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600" y="1714500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1714500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30988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QR code printed on the notebook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600" y="2108200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~PKR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7600" y="2108200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You are already printing these. This is a design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01900"/>
            <a:ext cx="30988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Access code inside the front 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2600" y="2501900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~PKR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7600" y="2501900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Printed by the school alongside the class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895600"/>
            <a:ext cx="30988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The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2600" y="2895600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PKR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895600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No licences, no hosting minimum, no vendor. Runs on one small 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289300"/>
            <a:ext cx="30988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Deployment to 16 campuses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2600" y="3289300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Minimal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7600" y="3289300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Server-side software update, not a campus-by-campus installation.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683000"/>
            <a:ext cx="30988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Merit bursary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2600" y="3683000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0.5–1% of fee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7600" y="3683000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Capped, published, and the real cost. Budget it deliberately.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076699"/>
            <a:ext cx="30988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1" i="0">
                <a:solidFill>
                  <a:srgbClr val="0F241A"/>
                </a:solidFill>
                <a:latin typeface="Poppins"/>
              </a:rPr>
              <a:t>Inter-school championship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2600" y="4076699"/>
            <a:ext cx="16764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Per-event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7600" y="4076699"/>
            <a:ext cx="5283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25" b="0" i="0">
                <a:solidFill>
                  <a:srgbClr val="0F241A"/>
                </a:solidFill>
                <a:latin typeface="Poppins"/>
              </a:rPr>
              <a:t>Sponsorship-funded. Do not run phase 1 on sponsor money.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029200"/>
            <a:ext cx="35560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08450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53721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new vendors or licences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8000" y="5029200"/>
            <a:ext cx="35560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08450"/>
                </a:solidFill>
                <a:latin typeface="Poppins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9600" y="53721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campuses from one server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6400" y="5029200"/>
            <a:ext cx="3556000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D99621"/>
                </a:solidFill>
                <a:latin typeface="Poppins"/>
              </a:rPr>
              <a:t>≤1%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0" y="53721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5" b="0" i="0">
                <a:solidFill>
                  <a:srgbClr val="486054"/>
                </a:solidFill>
                <a:latin typeface="Poppins"/>
              </a:rPr>
              <a:t>of fee revenue — the entire real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486054"/>
                </a:solidFill>
                <a:latin typeface="Poppins"/>
              </a:rPr>
              <a:t>The expensive part is not software — it is teacher adoption, solved by giving teachers a live picture of their class's weak chapters.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0" y="190500"/>
            <a:ext cx="3810000" cy="15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99BDA9"/>
                </a:solidFill>
                <a:latin typeface="Poppins"/>
              </a:rPr>
              <a:t>TEFOS QUIZ  ·  NOTEBOOK QR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0" y="184150"/>
            <a:ext cx="1238250" cy="14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5" b="1" i="0">
                <a:solidFill>
                  <a:srgbClr val="99BDA9"/>
                </a:solidFill>
                <a:latin typeface="Poppins"/>
              </a:rPr>
              <a:t>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4400" y="171450"/>
            <a:ext cx="419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75" b="1" i="0">
                <a:solidFill>
                  <a:srgbClr val="8CE04A"/>
                </a:solidFill>
                <a:latin typeface="Poppins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685800"/>
            <a:ext cx="105410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8CE04A"/>
                </a:solidFill>
                <a:latin typeface="Poppins"/>
              </a:rPr>
              <a:t>WHAT WE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71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Three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954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>
                <a:solidFill>
                  <a:srgbClr val="99BDA9"/>
                </a:solidFill>
                <a:latin typeface="Poppins"/>
              </a:rPr>
              <a:t>Nothing here needs a new budget line. All three are policy choices.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1905000"/>
            <a:ext cx="698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 i="0">
                <a:solidFill>
                  <a:srgbClr val="F6C453"/>
                </a:solidFill>
                <a:latin typeface="Bebas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2000" y="1905000"/>
            <a:ext cx="3175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Name a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5600" y="1905000"/>
            <a:ext cx="58928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8F5ED"/>
                </a:solidFill>
                <a:latin typeface="Poppins"/>
              </a:rPr>
              <a:t>One class, one subject, one campus. Six weeks. A science teacher who volunteers, not the most eager head of department.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2984500"/>
            <a:ext cx="698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 i="0">
                <a:solidFill>
                  <a:srgbClr val="F6C453"/>
                </a:solidFill>
                <a:latin typeface="Bebas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2000" y="2984500"/>
            <a:ext cx="3175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Agree the framing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5600" y="2984500"/>
            <a:ext cx="58928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8F5ED"/>
                </a:solidFill>
                <a:latin typeface="Poppins"/>
              </a:rPr>
              <a:t>“Merit bursary”, never “earn your own fee”. And quiz points never decide Head Boy, monitors or prefects — that stays exactly as it is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4064000"/>
            <a:ext cx="698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 i="0">
                <a:solidFill>
                  <a:srgbClr val="F6C453"/>
                </a:solidFill>
                <a:latin typeface="Bebas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2000" y="4064000"/>
            <a:ext cx="3175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Open the operator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5600" y="4064000"/>
            <a:ext cx="58928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8F5ED"/>
                </a:solidFill>
                <a:latin typeface="Poppins"/>
              </a:rPr>
              <a:t>Zero-rated data on the quiz host, and a first look at sponsoring the inter-school championship. Both are worth more than the software.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52578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6C453"/>
                </a:solidFill>
                <a:latin typeface="Poppins"/>
              </a:rPr>
              <a:t>Total cost to pilot: the price of six weeks of one teacher's goodwill.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6521450"/>
            <a:ext cx="10718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99BDA9"/>
                </a:solidFill>
                <a:latin typeface="Poppins"/>
              </a:rPr>
              <a:t>All three can be decided in this meeting.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600" y="1828800"/>
            <a:ext cx="793750" cy="160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1" i="0">
                <a:solidFill>
                  <a:srgbClr val="8CE04A"/>
                </a:solidFill>
                <a:latin typeface="Poppins"/>
              </a:rPr>
              <a:t>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159000"/>
            <a:ext cx="6350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 i="0">
                <a:solidFill>
                  <a:srgbClr val="FFFFFF"/>
                </a:solidFill>
                <a:latin typeface="Poppins"/>
              </a:rPr>
              <a:t>It is not a quiz app.
</a:t>
            </a:r>
            <a:r>
              <a:rPr sz="3000" b="1" i="0">
                <a:solidFill>
                  <a:srgbClr val="8CE04A"/>
                </a:solidFill>
                <a:latin typeface="Poppins"/>
              </a:rPr>
              <a:t>It is a reason to
open the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673600"/>
            <a:ext cx="5715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5ED"/>
                </a:solidFill>
                <a:latin typeface="Poppins"/>
              </a:rPr>
              <a:t>Every other school initiative asks a student to do something extra. This one pays them for what they were already doing — which is why it will still be running in March.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86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99BDA9"/>
                </a:solidFill>
                <a:latin typeface="Poppins"/>
              </a:rPr>
              <a:t>TELECOM FOUNDATION EDUCATION SYSTEM  ·  TEFOS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77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CE04A"/>
                </a:solidFill>
                <a:latin typeface="Poppins"/>
              </a:rPr>
              <a:t>Thank you  ·  Questions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7400" y="64135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8CE04A"/>
                </a:solidFill>
                <a:latin typeface="Poppins"/>
              </a:rPr>
              <a:t>Transforming Communities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