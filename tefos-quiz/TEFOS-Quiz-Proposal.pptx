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344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D98A"/>
                </a:solidFill>
                <a:latin typeface="Calibri"/>
              </a:rPr>
              <a:t>TELECOM FOUNDATION EDUCATION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8308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The notebook
that teaches 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931920"/>
            <a:ext cx="1371600" cy="41148"/>
          </a:xfrm>
          <a:prstGeom prst="rect">
            <a:avLst/>
          </a:prstGeom>
          <a:solidFill>
            <a:srgbClr val="7F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4224528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700" b="0" i="0">
                <a:solidFill>
                  <a:srgbClr val="7FD3E0"/>
                </a:solidFill>
                <a:latin typeface="Calibri"/>
              </a:rPr>
              <a:t>A QR code on every subject notebook turns a finished chapter into a quiz, a rank, and a bursary — across all 16 schools.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715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9AA7B0"/>
                </a:solidFill>
                <a:latin typeface="Calibri"/>
              </a:rPr>
              <a:t>A proposal  ·  Chapter quizzes ·  Merit bursaries ·  Inter-school championship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3716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D98A"/>
                </a:solidFill>
                <a:latin typeface="Calibri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920240"/>
            <a:ext cx="96012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A student finishes Chapter 1. They scan the book they are already holding. They answer four questions.
They earn points toward next month's bursary.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4480560"/>
            <a:ext cx="1371600" cy="41148"/>
          </a:xfrm>
          <a:prstGeom prst="rect">
            <a:avLst/>
          </a:prstGeom>
          <a:solidFill>
            <a:srgbClr val="7F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75488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 i="0">
                <a:solidFill>
                  <a:srgbClr val="7FD3E0"/>
                </a:solidFill>
                <a:latin typeface="Calibri"/>
              </a:rPr>
              <a:t>No app. No signup. No form. No behaviour change — which is precisely why it will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THE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The QR code is already in the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This is the only marketing surface a school owns that the student touches voluntarily, every 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58521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50292" cy="82296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212848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It meets the student at peak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450591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C6B75"/>
                </a:solidFill>
                <a:latin typeface="Calibri"/>
              </a:rPr>
              <a:t>They have just finished the chapter. The book is open. The page is right there.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72384"/>
            <a:ext cx="58521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072384"/>
            <a:ext cx="50292" cy="82296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182112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It requires zero new 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419856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C6B75"/>
                </a:solidFill>
                <a:latin typeface="Calibri"/>
              </a:rPr>
              <a:t>No app to download, no code to memorise, no website to visit, no reminder to send.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41648"/>
            <a:ext cx="58521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041648"/>
            <a:ext cx="50292" cy="82296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4151376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It travels home and gets photographed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3891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C6B75"/>
                </a:solidFill>
                <a:latin typeface="Calibri"/>
              </a:rPr>
              <a:t>It sits open on a desk where visitors see it, and ends up in photos, on desks, in parents' houses.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103120"/>
            <a:ext cx="4663440" cy="2743200"/>
          </a:xfrm>
          <a:prstGeom prst="roundRect">
            <a:avLst>
              <a:gd name="adj" fmla="val 6000"/>
            </a:avLst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2395728"/>
            <a:ext cx="40233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Every other school
channel is a push.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400" b="0" i="0">
                <a:solidFill>
                  <a:srgbClr val="7FD3E0"/>
                </a:solidFill>
                <a:latin typeface="Calibri"/>
              </a:rPr>
              <a:t>Newsletters get ignored.
Flyers get binned.
Apps get deleted.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 i="0">
                <a:solidFill>
                  <a:srgbClr val="FFD98A"/>
                </a:solidFill>
                <a:latin typeface="Calibri"/>
              </a:rPr>
              <a:t>This one is a pull.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0533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7B0"/>
                </a:solidFill>
                <a:latin typeface="Calibri"/>
              </a:rPr>
              <a:t>Compare: a school newsletter competes with everything. A QR in a textbook competes with nothing.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THE STUDENT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Five steps. About ninety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20030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2003084" cy="4572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15458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7FD3E0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5458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32B"/>
                </a:solidFill>
                <a:latin typeface="Calibri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01568"/>
            <a:ext cx="15458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The QR on the cover of
any subject notebook.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7172" y="32004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9AA7B0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0052" y="2240280"/>
            <a:ext cx="20030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90052" y="2240280"/>
            <a:ext cx="2003084" cy="4572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8652" y="2487168"/>
            <a:ext cx="15458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7FD3E0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652" y="3017520"/>
            <a:ext cx="15458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32B"/>
                </a:solidFill>
                <a:latin typeface="Calibri"/>
              </a:rPr>
              <a:t>Enter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8652" y="3401568"/>
            <a:ext cx="15458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Six characters printed
inside the front cover.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1425" y="32004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9AA7B0"/>
                </a:solidFill>
                <a:latin typeface="Calibr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94305" y="2240280"/>
            <a:ext cx="20030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4305" y="2240280"/>
            <a:ext cx="2003084" cy="4572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22905" y="2487168"/>
            <a:ext cx="15458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7FD3E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22905" y="3017520"/>
            <a:ext cx="15458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32B"/>
                </a:solidFill>
                <a:latin typeface="Calibri"/>
              </a:rPr>
              <a:t>Pick chapter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2905" y="3401568"/>
            <a:ext cx="15458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The one they just
finished. Tap Go.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5677" y="32004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9AA7B0"/>
                </a:solidFill>
                <a:latin typeface="Calibr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8557" y="2240280"/>
            <a:ext cx="20030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8557" y="2240280"/>
            <a:ext cx="2003084" cy="4572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27157" y="2487168"/>
            <a:ext cx="15458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7FD3E0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7157" y="3017520"/>
            <a:ext cx="15458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32B"/>
                </a:solidFill>
                <a:latin typeface="Calibri"/>
              </a:rPr>
              <a:t>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7157" y="3401568"/>
            <a:ext cx="15458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Five questions,
mostly about their own class.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9930" y="3200400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9AA7B0"/>
                </a:solidFill>
                <a:latin typeface="Calibr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02810" y="2240280"/>
            <a:ext cx="2003084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02810" y="2240280"/>
            <a:ext cx="2003084" cy="4572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1410" y="2487168"/>
            <a:ext cx="15458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7FD3E0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1410" y="3017520"/>
            <a:ext cx="15458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6232B"/>
                </a:solidFill>
                <a:latin typeface="Calibri"/>
              </a:rPr>
              <a:t>Rank 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1410" y="3401568"/>
            <a:ext cx="15458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Points, a rank tier,
and a place on the board.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83480"/>
            <a:ext cx="10820095" cy="777240"/>
          </a:xfrm>
          <a:prstGeom prst="roundRect">
            <a:avLst>
              <a:gd name="adj" fmla="val 6000"/>
            </a:avLst>
          </a:prstGeom>
          <a:solidFill>
            <a:srgbClr val="E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193792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B6B7D"/>
                </a:solidFill>
                <a:latin typeface="Calibri"/>
              </a:rPr>
              <a:t>There is no step six. </a:t>
            </a:r>
            <a:r>
              <a:rPr sz="1400" b="0" i="0">
                <a:solidFill>
                  <a:srgbClr val="16232B"/>
                </a:solidFill>
                <a:latin typeface="Calibri"/>
              </a:rPr>
              <a:t>That is the entire design. Everything in this proposal exists to keep students at step five.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THE PARTICIPATION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Five non-negotiable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Break any one of these and the programme dies quietly within a term.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10820095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2104" y="22494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B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304288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2" y="2221991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Points are never negative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79"/>
            <a:ext cx="6705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A student who tries and gets it wrong must never end up worse off than one who never scanned.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9503"/>
            <a:ext cx="10820095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2104" y="303580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090672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9032" y="3008375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Participation earns the first 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026663"/>
            <a:ext cx="6705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A student who takes part always has an identity, even at zero percent.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75887"/>
            <a:ext cx="10820095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" y="3822191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3877055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3794759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Only a first attempt moves the 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813048"/>
            <a:ext cx="6705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Retries pay a little, so nobody is locked out — but nobody can farm the board.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62272"/>
            <a:ext cx="10820095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2104" y="460857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4663440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58114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Show growth, not distance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599432"/>
            <a:ext cx="6705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“You gained 180 points”, not “you are 2,400 short”, unless the gap is genuinely reachable.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48656"/>
            <a:ext cx="10820095" cy="6766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2104" y="539496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" y="5449824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9032" y="5367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Never publish only the 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385816"/>
            <a:ext cx="6705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Champions, most improved, and participation rate. Always all three.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THE ONE NUMBER THAT MATTERS MOST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Punishing a wrong answer kills participation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The arithmetic below is the single most important line in this proposal.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5303520" cy="265176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774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03535"/>
                </a:solidFill>
                <a:latin typeface="Calibri"/>
              </a:rPr>
              <a:t>AS ORIGINALLY SPECIFIED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43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6232B"/>
                </a:solidFill>
                <a:latin typeface="Calibri"/>
              </a:rPr>
              <a:t>+10 correct  ·  −5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2461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5 of 5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2461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A6B3C"/>
                </a:solidFill>
                <a:latin typeface="Calibri"/>
              </a:rPr>
              <a:t>+50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53872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3 of 5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538727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8A5A10"/>
                </a:solidFill>
                <a:latin typeface="Calibri"/>
              </a:rPr>
              <a:t>+5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831335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2 of 5 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831335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03535"/>
                </a:solidFill>
                <a:latin typeface="Calibri"/>
              </a:rPr>
              <a:t>−5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1239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All wrong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1239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03535"/>
                </a:solidFill>
                <a:latin typeface="Calibri"/>
              </a:rPr>
              <a:t>−25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416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Never scanned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4165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C6B75"/>
                </a:solidFill>
                <a:latin typeface="Calibri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148840"/>
            <a:ext cx="5196535" cy="265176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3774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A6B3C"/>
                </a:solidFill>
                <a:latin typeface="Calibri"/>
              </a:rPr>
              <a:t>AS 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743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16232B"/>
                </a:solidFill>
                <a:latin typeface="Calibri"/>
              </a:rPr>
              <a:t>+10  ·  0  ·  +3 retry  ·  +25 perfect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461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All 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2461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A6B3C"/>
                </a:solidFill>
                <a:latin typeface="Calibri"/>
              </a:rPr>
              <a:t>+75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538727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Half right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538727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A6B3C"/>
                </a:solidFill>
                <a:latin typeface="Calibri"/>
              </a:rPr>
              <a:t>+25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831335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Two of five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831335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C6B75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1239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All wrong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12394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C6B75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165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Never scanned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4165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5C6B75"/>
                </a:solidFill>
                <a:latin typeface="Calibri"/>
              </a:rPr>
              <a:t>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74920"/>
            <a:ext cx="10820095" cy="822960"/>
          </a:xfrm>
          <a:prstGeom prst="roundRect">
            <a:avLst>
              <a:gd name="adj" fmla="val 6000"/>
            </a:avLst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5285232"/>
            <a:ext cx="102348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With negatives, a student who scans and does badly is worse off than one who ignores the book entirely. The programme punishes exactly the behaviour it needs most.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RANK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Spark to Galaxy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Every student has an identity. Nobody sits in a dead zone below the first rung.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103120"/>
          <a:ext cx="6766560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554480"/>
                <a:gridCol w="3017520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Points rate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✦  Spark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Any points at all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You took part. That is the whole entry fee.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✨  Rising Star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30%+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Getting going.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⭐  Star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50%+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Solid and consistent.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🌟  Bright Star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70%+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Reliably strong across chapters.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💫  Supernova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85%+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Outstanding.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🌌  Galaxy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95%+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6232B"/>
                          </a:solidFill>
                          <a:latin typeface="Calibri"/>
                        </a:rPr>
                        <a:t>Exceptional.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0" y="2103120"/>
            <a:ext cx="3733495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2103120"/>
            <a:ext cx="3733495" cy="45720"/>
          </a:xfrm>
          <a:prstGeom prst="rect">
            <a:avLst/>
          </a:prstGeom>
          <a:solidFill>
            <a:srgbClr val="B0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359152"/>
            <a:ext cx="3184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03535"/>
                </a:solidFill>
                <a:latin typeface="Calibri"/>
              </a:rPr>
              <a:t>THE ACTIVITY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697480"/>
            <a:ext cx="3184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 i="0">
                <a:solidFill>
                  <a:srgbClr val="16232B"/>
                </a:solidFill>
                <a:latin typeface="Calibri"/>
              </a:rPr>
              <a:t>Rank is points earned ÷ points available — never a raw average — and only appears after 5 chapters attempted.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703320"/>
            <a:ext cx="3184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Without the floor, a student sits one easy quiz, scores 95% and quits — and out-ranks the student who showed up every week.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20640"/>
            <a:ext cx="10820095" cy="731520"/>
          </a:xfrm>
          <a:prstGeom prst="roundRect">
            <a:avLst>
              <a:gd name="adj" fmla="val 6000"/>
            </a:avLst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321808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8A5A10"/>
                </a:solidFill>
                <a:latin typeface="Calibri"/>
              </a:rPr>
              <a:t>Bug we found and fixed: </a:t>
            </a:r>
            <a:r>
              <a:rPr sz="1300" b="0" i="0">
                <a:solidFill>
                  <a:srgbClr val="16232B"/>
                </a:solidFill>
                <a:latin typeface="Calibri"/>
              </a:rPr>
              <a:t>the floor originally applied to the data but not to the screen — so a one-quiz student still read “Galaxy” on their own result. Now the displayed tier is clamped too.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WHAT THE STUDENT SEES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Three screens, ninety seconds</a:t>
            </a:r>
          </a:p>
        </p:txBody>
      </p:sp>
      <p:pic>
        <p:nvPicPr>
          <p:cNvPr id="8" name="Picture 7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3423818" cy="342381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623560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The chapter 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16168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C6B75"/>
                </a:solidFill>
                <a:latin typeface="Calibri"/>
              </a:rPr>
              <a:t>Every subject, every chapter, one tap to start.</a:t>
            </a:r>
          </a:p>
        </p:txBody>
      </p:sp>
      <p:pic>
        <p:nvPicPr>
          <p:cNvPr id="11" name="Picture 10" descr="02-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399" y="1965960"/>
            <a:ext cx="1964896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3938" y="5623560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The payoff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3938" y="5916168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C6B75"/>
                </a:solidFill>
                <a:latin typeface="Calibri"/>
              </a:rPr>
              <a:t>Points, rank tier, and how far they have come this month.</a:t>
            </a:r>
          </a:p>
        </p:txBody>
      </p:sp>
      <p:pic>
        <p:nvPicPr>
          <p:cNvPr id="14" name="Picture 13" descr="03-leader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2076" y="1965960"/>
            <a:ext cx="3423818" cy="195646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82076" y="5623560"/>
            <a:ext cx="34238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The 16-school 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2076" y="5916168"/>
            <a:ext cx="3423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C6B75"/>
                </a:solidFill>
                <a:latin typeface="Calibri"/>
              </a:rPr>
              <a:t>All campuses together — plus the reach line, shown only when close.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A quiz nobody can google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Half the questions are about things that happened in that specific classroom, that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53035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5915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5C6B75"/>
                </a:solidFill>
                <a:latin typeface="Calibri"/>
              </a:rPr>
              <a:t>THE USUAL KIND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9748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 i="0">
                <a:solidFill>
                  <a:srgbClr val="16232B"/>
                </a:solidFill>
                <a:latin typeface="Calibri"/>
              </a:rPr>
              <a:t>“A body travels 120 m in 15 s at constant speed. What is its speed?”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977639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Searchable in four seconds. Which means the prize is paid to whoever has the fastest internet connection and the most willing relatives.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03120"/>
            <a:ext cx="5196535" cy="3017520"/>
          </a:xfrm>
          <a:prstGeom prst="roundRect">
            <a:avLst>
              <a:gd name="adj" fmla="val 6000"/>
            </a:avLst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35915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D98A"/>
                </a:solidFill>
                <a:latin typeface="Calibri"/>
              </a:rPr>
              <a:t>THE KIND WE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“On the first day of the Motion unit, which classroom activity did we do?”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“Our lab report was due on which date?”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14800"/>
            <a:ext cx="4754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7FD3E0"/>
                </a:solidFill>
                <a:latin typeface="Calibri"/>
              </a:rPr>
              <a:t>Nobody can search these. Only a student who was there can answer — which means we are paying for attention, not for guessing.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349240"/>
            <a:ext cx="2567863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5349240"/>
            <a:ext cx="2567863" cy="4572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532120"/>
            <a:ext cx="25678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6B7D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971031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C6B75"/>
                </a:solidFill>
                <a:latin typeface="Calibri"/>
              </a:rPr>
              <a:t>answer keys sent to any 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36543" y="5349240"/>
            <a:ext cx="2567863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36543" y="5349240"/>
            <a:ext cx="2567863" cy="4572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6543" y="5532120"/>
            <a:ext cx="25678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6B7D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7983" y="5971031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C6B75"/>
                </a:solidFill>
                <a:latin typeface="Calibri"/>
              </a:rPr>
              <a:t>chapters before a rank shows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5349240"/>
            <a:ext cx="2567863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87287" y="5349240"/>
            <a:ext cx="2567863" cy="45720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7287" y="5532120"/>
            <a:ext cx="25678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0B6B7D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8727" y="5971031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C6B75"/>
                </a:solidFill>
                <a:latin typeface="Calibri"/>
              </a:rPr>
              <a:t>first attempt per chapter, enforced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38031" y="5349240"/>
            <a:ext cx="2567863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8031" y="5349240"/>
            <a:ext cx="2567863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38031" y="5532120"/>
            <a:ext cx="25678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D9A441"/>
                </a:solidFill>
                <a:latin typeface="Calibri"/>
              </a:rPr>
              <a:t>2.5 KB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29471" y="5971031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0">
                <a:solidFill>
                  <a:srgbClr val="5C6B75"/>
                </a:solidFill>
                <a:latin typeface="Calibri"/>
              </a:rPr>
              <a:t>per quiz page, gzipped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Show growth. Show the gap only when it is reachable.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The most common mistake in school gamification is telling a child exactly how far they are from winning.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A6B3C"/>
                </a:solidFill>
                <a:latin typeface="Calibri"/>
              </a:rPr>
              <a:t>ALWAYS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16232B"/>
                </a:solidFill>
                <a:latin typeface="Calibri"/>
              </a:rPr>
              <a:t>“You are 180 points ahead of where you were last month.”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Progress against yourself. This is what sustains effort.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19456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4505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8A5A10"/>
                </a:solidFill>
                <a:latin typeface="Calibri"/>
              </a:rPr>
              <a:t>ONLY IF REACHABLE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816352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16232B"/>
                </a:solidFill>
                <a:latin typeface="Calibri"/>
              </a:rPr>
              <a:t>“240 more points puts you on the top 10 board.”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40690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A real nudge, shown only to students within striking distance.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2194560"/>
            <a:ext cx="3450031" cy="237744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245059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03535"/>
                </a:solidFill>
                <a:latin typeface="Calibri"/>
              </a:rPr>
              <a:t>NEVER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816352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1" i="0">
                <a:solidFill>
                  <a:srgbClr val="16232B"/>
                </a:solidFill>
                <a:latin typeface="Calibri"/>
              </a:rPr>
              <a:t>“You are 2,400 points short of the board.”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40690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The gap is too big to close, so the rational move is to stop trying.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102352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0B6B7D"/>
                </a:solidFill>
                <a:latin typeface="Calibri"/>
              </a:rPr>
              <a:t>Publish three boards, always. </a:t>
            </a:r>
            <a:r>
              <a:rPr sz="1350" b="0" i="0">
                <a:solidFill>
                  <a:srgbClr val="16232B"/>
                </a:solidFill>
                <a:latin typeface="Calibri"/>
              </a:rPr>
              <a:t>Champions · Most improved · Participation rate. The third one is awarded on how many students took part, not on scores — which is what gives smaller campuses a genuine way to win.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THE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The school pays in tuition credit, not 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This is the trick that makes the whole programme affordable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5303520" cy="251460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39572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A6B3C"/>
                </a:solidFill>
                <a:latin typeface="Calibri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4320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400" b="1" i="0">
                <a:solidFill>
                  <a:srgbClr val="16232B"/>
                </a:solidFill>
                <a:latin typeface="Calibri"/>
              </a:rPr>
              <a:t>Merit bursary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00" b="0" i="0">
                <a:solidFill>
                  <a:srgbClr val="16232B"/>
                </a:solidFill>
                <a:latin typeface="Calibri"/>
              </a:rPr>
              <a:t>Up to 10 bursaries a month, each worth up to 10% of one month's tuition fee, awarded on points earned.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Cost to the school: foregone revenue on a student who already pays. Budgetable, capped, predictable.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48840"/>
            <a:ext cx="5196535" cy="251460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95728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03535"/>
                </a:solidFill>
                <a:latin typeface="Calibri"/>
              </a:rPr>
              <a:t>WHAT IT MUST NOT BE CALLED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2100" b="1" i="0">
                <a:solidFill>
                  <a:srgbClr val="16232B"/>
                </a:solidFill>
                <a:latin typeface="Calibri"/>
              </a:rPr>
              <a:t>“Students earn their own fee.”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16232B"/>
                </a:solidFill>
                <a:latin typeface="Calibri"/>
              </a:rPr>
              <a:t>Identical budget. But it replaces a student election with a leaderboard, invites fee-regulation scrutiny, and reads badly in a newspaper.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Same money, completely different posture.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89204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5084064"/>
            <a:ext cx="1023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8A5A10"/>
                </a:solidFill>
                <a:latin typeface="Calibri"/>
              </a:rPr>
              <a:t>The honest caveat: </a:t>
            </a:r>
            <a:r>
              <a:rPr sz="1300" b="0" i="0">
                <a:solidFill>
                  <a:srgbClr val="16232B"/>
                </a:solidFill>
                <a:latin typeface="Calibri"/>
              </a:rPr>
              <a:t>a bursary helps a wealthy family more than a poor one, because a rich family can absorb the fee. Keep a small, separately-funded need-based component — and let sponsors underwrite that, because it is the strongest education-access outcome report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Three cadences, three different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A yearly reward attached to a daily habit is how engagement dies around week six.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342381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3423818" cy="54864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WEEKLY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6232B"/>
                </a:solidFill>
                <a:latin typeface="Calibri"/>
              </a:rPr>
              <a:t>Star of the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80"/>
            <a:ext cx="28751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Recognition only. House points, a name on the school board, and nothing else. Theatre, and that is fine — as long as nobody expects cash.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3938" y="2194560"/>
            <a:ext cx="342381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3938" y="2194560"/>
            <a:ext cx="3423818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8258" y="2450592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D9A441"/>
                </a:solidFill>
                <a:latin typeface="Calibri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8258" y="2788920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6232B"/>
                </a:solidFill>
                <a:latin typeface="Calibri"/>
              </a:rPr>
              <a:t>The merit bursary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8258" y="3611880"/>
            <a:ext cx="28751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The real reward. Fee credit, published, capped, and actually paid. This is the one that parents care about.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2076" y="2194560"/>
            <a:ext cx="342381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82076" y="2194560"/>
            <a:ext cx="3423818" cy="54864"/>
          </a:xfrm>
          <a:prstGeom prst="rect">
            <a:avLst/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6396" y="2450592"/>
            <a:ext cx="28751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F3D4A"/>
                </a:solidFill>
                <a:latin typeface="Calibri"/>
              </a:rPr>
              <a:t>EVERY 2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6396" y="2788920"/>
            <a:ext cx="287517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900" b="1" i="0">
                <a:solidFill>
                  <a:srgbClr val="16232B"/>
                </a:solidFill>
                <a:latin typeface="Calibri"/>
              </a:rPr>
              <a:t>The inter-school championship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6396" y="3611880"/>
            <a:ext cx="287517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The big one. Sixteen campuses, trophies, a ceremony, and a camera. This is what sponsors pay for.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57800"/>
            <a:ext cx="10820095" cy="685800"/>
          </a:xfrm>
          <a:prstGeom prst="roundRect">
            <a:avLst>
              <a:gd name="adj" fmla="val 6000"/>
            </a:avLst>
          </a:prstGeom>
          <a:solidFill>
            <a:srgbClr val="E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40680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B6B7D"/>
                </a:solidFill>
                <a:latin typeface="Calibri"/>
              </a:rPr>
              <a:t>The monthly rhythm is what keeps the notebook open. </a:t>
            </a:r>
            <a:r>
              <a:rPr sz="1300" b="0" i="0">
                <a:solidFill>
                  <a:srgbClr val="16232B"/>
                </a:solidFill>
                <a:latin typeface="Calibri"/>
              </a:rPr>
              <a:t>The championship is the photo opportunity. Neither replaces the other.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THE BIG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Sixteen school champions, not five finalists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A live online final for 48 finalists is how you end up with a cheating scandal and a dead programme.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530352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5303520" cy="54864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4505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PHASE 1 · SCHOOL HEAT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78892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 i="0">
                <a:solidFill>
                  <a:srgbClr val="16232B"/>
                </a:solidFill>
                <a:latin typeface="Calibri"/>
              </a:rPr>
              <a:t>Two weeks, asynchronous, in the app.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 i="0">
                <a:solidFill>
                  <a:srgbClr val="16232B"/>
                </a:solidFill>
                <a:latin typeface="Calibri"/>
              </a:rPr>
              <a:t>Every student in the class can enter. Same questions, done in their own time inside a two-week window.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5C6B75"/>
                </a:solidFill>
                <a:latin typeface="Calibri"/>
              </a:rPr>
              <a:t>No timing pressure. No dropped connections. No proctoring needed. This is where “represent your school” pride actually lives — and participation stays near total, because anyone can enter.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5196535" cy="2651760"/>
          </a:xfrm>
          <a:prstGeom prst="roundRect">
            <a:avLst>
              <a:gd name="adj" fmla="val 6000"/>
            </a:avLst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505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D98A"/>
                </a:solidFill>
                <a:latin typeface="Calibri"/>
              </a:rPr>
              <a:t>PHASE 2 · CITY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788920"/>
            <a:ext cx="47548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Sixteen students. One afternoon.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One champion per school, one per class. Live, but sixteen people, all on campus, on good connections, with staff in the room.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150" b="0" i="0">
                <a:solidFill>
                  <a:srgbClr val="7FD3E0"/>
                </a:solidFill>
                <a:latin typeface="Calibri"/>
              </a:rPr>
              <a:t>Genuinely manageable, and it makes a real ceremony worth filming.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85800" y="5029200"/>
          <a:ext cx="107899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7040880"/>
                <a:gridCol w="137160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Place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many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School champion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Bursary + trophy + name on the school's banner + a slot in the final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City winner 1–3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Laptop or tablet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City 4–5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Fee waiver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Top school of the term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Inter-school trophy and banner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THE PRIZE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Rewarding the middle, not just the peak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The top 20% are already motivated by grades. The programme lives or dies in the middle.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2148840"/>
          <a:ext cx="1078992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657600"/>
                <a:gridCol w="1188720"/>
                <a:gridCol w="365760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Reward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Anyone taking part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Badge, name on the monthly board, a branded bookmark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Participation is the goal, so reward the act of participating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50%+ (the middle half)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Merit bursary — real money off the fee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The largest group, the biggest family impact, easiest for sponsors to fund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70%+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Certificate and merit gear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Recognition, not material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Top 1 per year group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Laptop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A real trophy — eight winners, not one, which removes the incentive to cheat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House champion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Trophy at the ceremony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The photo opportunity, and the sponsor's logo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5394960"/>
            <a:ext cx="10820095" cy="68580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577840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B03535"/>
                </a:solidFill>
                <a:latin typeface="Calibri"/>
              </a:rPr>
              <a:t>Removed: </a:t>
            </a:r>
            <a:r>
              <a:rPr sz="1300" b="0" i="0">
                <a:solidFill>
                  <a:srgbClr val="16232B"/>
                </a:solidFill>
                <a:latin typeface="Calibri"/>
              </a:rPr>
              <a:t>“a branded pen for 40%.” It tells a child they did badly and hands them a consolation prize. That is worse than giving nothing.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THE MARKETING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Every printed batch carries its own tracked 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This is how the school answers the only question that matters: which notebooks actually worked?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6400800" cy="1371600"/>
          </a:xfrm>
          <a:prstGeom prst="roundRect">
            <a:avLst>
              <a:gd name="adj" fmla="val 6000"/>
            </a:avLst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50592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D98A"/>
                </a:solidFill>
                <a:latin typeface="Consolas"/>
              </a:rPr>
              <a:t>https://&lt;host&gt;/t/{batch}/{subject}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7FD3E0"/>
                </a:solidFill>
                <a:latin typeface="Calibri"/>
              </a:rPr>
              <a:t>redirects to the code entry screen, and records the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60"/>
            <a:ext cx="64008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794760"/>
            <a:ext cx="50292" cy="658368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3904488"/>
            <a:ext cx="5943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One link per print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4223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C6B75"/>
                </a:solidFill>
                <a:latin typeface="Calibri"/>
              </a:rPr>
              <a:t>Main campus Physics vs Capital campus Maths are separately attributable from day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599432"/>
            <a:ext cx="64008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599432"/>
            <a:ext cx="50292" cy="658368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4709160"/>
            <a:ext cx="5943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Measured, not guessed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94690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C6B75"/>
                </a:solidFill>
                <a:latin typeface="Calibri"/>
              </a:rPr>
              <a:t>Scans, participation and average score per batch, per campus, per subject — the real marketing number.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404104"/>
            <a:ext cx="64008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404104"/>
            <a:ext cx="50292" cy="658368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5513832"/>
            <a:ext cx="5943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Zero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575157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5C6B75"/>
                </a:solidFill>
                <a:latin typeface="Calibri"/>
              </a:rPr>
              <a:t>The tracking is a line of code. There is no extra spend to attribute 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2194560"/>
            <a:ext cx="4007815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2194560"/>
            <a:ext cx="4007815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2468880"/>
            <a:ext cx="34591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D9A441"/>
                </a:solidFill>
                <a:latin typeface="Calibri"/>
              </a:rPr>
              <a:t>AND THE BIGGEST 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834640"/>
            <a:ext cx="34591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16232B"/>
                </a:solidFill>
                <a:latin typeface="Calibri"/>
              </a:rPr>
              <a:t>Zero-rated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611880"/>
            <a:ext cx="34591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 i="0">
                <a:solidFill>
                  <a:srgbClr val="16232B"/>
                </a:solidFill>
                <a:latin typeface="Calibri"/>
              </a:rPr>
              <a:t>Students are on metered mobile data. If the operator zero-rates this host, participation does not improve slightly — it changes order of magnitude.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A full quiz page already costs 2.5 KB gzipped, so this is a cheap ask with an enormous ceiling. It is the single most valuable thing an affiliated operator can contribute.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SPONSORSHIP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Sixteen schools changes the conversation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Stop selling “logo on a quiz”. Sell the championship.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5303520" cy="2468880"/>
          </a:xfrm>
          <a:prstGeom prst="roundRect">
            <a:avLst>
              <a:gd name="adj" fmla="val 6000"/>
            </a:avLst>
          </a:prstGeom>
          <a:solidFill>
            <a:srgbClr val="F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4505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03535"/>
                </a:solidFill>
                <a:latin typeface="Calibri"/>
              </a:rPr>
              <a:t>WHAT DOES NOT SELL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8892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1" i="0">
                <a:solidFill>
                  <a:srgbClr val="16232B"/>
                </a:solidFill>
                <a:latin typeface="Calibri"/>
              </a:rPr>
              <a:t>“Put your logo on our quiz.”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16232B"/>
                </a:solidFill>
                <a:latin typeface="Calibri"/>
              </a:rPr>
              <a:t>This is a marketing sponsorship. Education CSR budgets are earmarked for scholarships, infrastructure and teaching — a completely different budget line at most corporates. Expect it to be hard.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5196535" cy="2468880"/>
          </a:xfrm>
          <a:prstGeom prst="roundRect">
            <a:avLst>
              <a:gd name="adj" fmla="val 6000"/>
            </a:avLst>
          </a:prstGeom>
          <a:solidFill>
            <a:srgbClr val="EA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50592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1A6B3C"/>
                </a:solidFill>
                <a:latin typeface="Calibri"/>
              </a:rPr>
              <a:t>WHAT SELLS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8892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700" b="1" i="0">
                <a:solidFill>
                  <a:srgbClr val="16232B"/>
                </a:solidFill>
                <a:latin typeface="Calibri"/>
              </a:rPr>
              <a:t>“Title sponsor of a 16-school championship.”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50" b="0" i="0">
                <a:solidFill>
                  <a:srgbClr val="16232B"/>
                </a:solidFill>
                <a:latin typeface="Calibri"/>
              </a:rPr>
              <a:t>16 campuses, 2,000+ students, a recurring streamed event, trophies, media coverage, and a clean education-access outcome story. That is a headline CSR asset.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85800" y="4846320"/>
          <a:ext cx="107899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7223760"/>
                <a:gridCol w="1188720"/>
              </a:tblGrid>
              <a:tr h="32918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they buy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easy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Scholarship fund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“We underwrite N merit bursaries” — maps perfectly to education-access outcomes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Easiest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In-kind prizes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Printers, tablets, ISP kit, local vouchers — hugely valuable, almost no cash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Very easy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Named prize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“This month's top scorer wins a [brand] kit”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Presented by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Title sponsor of the biennial championship ceremony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85800" y="60533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7B0"/>
                </a:solidFill>
                <a:latin typeface="Calibri"/>
              </a:rPr>
              <a:t>Rule: run phase 1 with zero sponsors. The bursary model already funds the core. Sponsors are upside, not the business case.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PRIVACY AND SAFEGUARDING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Built GDPR-K grade, by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Pakistan has no enacted statute comparable to GDPR or COPPA. That is not a licence to collect loosely.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45720" cy="713232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1343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Nothing personal is ever typed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322576"/>
            <a:ext cx="5973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No signup form. No name, no father's name, no class, no roll number. The student enters a 6-character printed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017520"/>
            <a:ext cx="45720" cy="713232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1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Nothing identifying is ever shown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45536"/>
            <a:ext cx="5973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Public boards show first name and campus only. No guardian names, no student numbers, no photographs.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40480"/>
            <a:ext cx="45720" cy="713232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593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Every point is traceable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968496"/>
            <a:ext cx="5973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The points ledger is append-only. A parent can audit every single point their child has ever been awarded.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63440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663440"/>
            <a:ext cx="45720" cy="71323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7823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6232B"/>
                </a:solidFill>
                <a:latin typeface="Calibri"/>
              </a:rPr>
              <a:t>A child can always reach an adult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4791456"/>
            <a:ext cx="597377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 i="0">
                <a:solidFill>
                  <a:srgbClr val="5C6B75"/>
                </a:solidFill>
                <a:latin typeface="Calibri"/>
              </a:rPr>
              <a:t>The front office number is printed inside the front cover, permanently, regardless of what the server is doing.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532120"/>
            <a:ext cx="10820095" cy="594360"/>
          </a:xfrm>
          <a:prstGeom prst="roundRect">
            <a:avLst>
              <a:gd name="adj" fmla="val 6000"/>
            </a:avLst>
          </a:prstGeom>
          <a:solidFill>
            <a:srgbClr val="FFF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669280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8A5A10"/>
                </a:solidFill>
                <a:latin typeface="Calibri"/>
              </a:rPr>
              <a:t>Before launch: </a:t>
            </a:r>
            <a:r>
              <a:rPr sz="1250" b="0" i="0">
                <a:solidFill>
                  <a:srgbClr val="16232B"/>
                </a:solidFill>
                <a:latin typeface="Calibri"/>
              </a:rPr>
              <a:t>obtain parental consent at enrolment, publish a plain-language privacy notice inside the front cover, and confirm ICT Directorate guidance with local counsel.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Four phases, and a kill switch at every step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251299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240280"/>
            <a:ext cx="2512999" cy="54864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2000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788920"/>
            <a:ext cx="2000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32B"/>
                </a:solidFill>
                <a:latin typeface="Calibri"/>
              </a:rPr>
              <a:t>4–6 weeks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246120"/>
            <a:ext cx="20009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One subject, one chapter, one class. No sponsors, no ceremony, no bursary. The only question: will they scan?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4831" y="2240280"/>
            <a:ext cx="251299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4831" y="2240280"/>
            <a:ext cx="2512999" cy="54864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863" y="2487168"/>
            <a:ext cx="2000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2788920"/>
            <a:ext cx="2000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32B"/>
                </a:solidFill>
                <a:latin typeface="Calibri"/>
              </a:rPr>
              <a:t>Months 2–3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3246120"/>
            <a:ext cx="20009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All subjects. Weekly house boards. First merit bursary actually paid out. Teacher dashboard switched 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2240280"/>
            <a:ext cx="251299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240280"/>
            <a:ext cx="2512999" cy="54864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2487168"/>
            <a:ext cx="2000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D9A441"/>
                </a:solidFill>
                <a:latin typeface="Calibri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9895" y="2788920"/>
            <a:ext cx="2000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32B"/>
                </a:solidFill>
                <a:latin typeface="Calibri"/>
              </a:rPr>
              <a:t>Months 4–6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9895" y="3246120"/>
            <a:ext cx="20009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First inter-school championship. Ceremonies, trophies, and the first sponsorship conversation.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2895" y="2240280"/>
            <a:ext cx="251299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2895" y="2240280"/>
            <a:ext cx="2512999" cy="54864"/>
          </a:xfrm>
          <a:prstGeom prst="rect">
            <a:avLst/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8927" y="2487168"/>
            <a:ext cx="2000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F3D4A"/>
                </a:solidFill>
                <a:latin typeface="Calibri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927" y="2788920"/>
            <a:ext cx="20009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16232B"/>
                </a:solidFill>
                <a:latin typeface="Calibri"/>
              </a:rPr>
              <a:t>Year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927" y="3246120"/>
            <a:ext cx="200093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 b="0" i="0">
                <a:solidFill>
                  <a:srgbClr val="5C6B75"/>
                </a:solidFill>
                <a:latin typeface="Calibri"/>
              </a:rPr>
              <a:t>Championship becomes a fixture. Sponsor renews. New campus cohorts onboarded.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5047488"/>
            <a:ext cx="102348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FFD98A"/>
                </a:solidFill>
                <a:latin typeface="Calibri"/>
              </a:rPr>
              <a:t>The kill switch. </a:t>
            </a:r>
            <a:r>
              <a:rPr sz="1350" b="0" i="0">
                <a:solidFill>
                  <a:srgbClr val="FFFFFF"/>
                </a:solidFill>
                <a:latin typeface="Calibri"/>
              </a:rPr>
              <a:t>If monthly participation is below 50% at the end of phase 1, stop and fix it. Do not scale a weak programme across 16 campuses — that is how a good idea dies of bad management rather than bad design.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One number decides whether this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5C6B75"/>
                </a:solidFill>
                <a:latin typeface="Calibri"/>
              </a:rPr>
              <a:t>Track it weekly. Everything else is diagnostic.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0820095" cy="1371600"/>
          </a:xfrm>
          <a:prstGeom prst="roundRect">
            <a:avLst>
              <a:gd name="adj" fmla="val 6000"/>
            </a:avLst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9572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1" i="0">
                <a:solidFill>
                  <a:srgbClr val="FFD98A"/>
                </a:solidFill>
                <a:latin typeface="Calibri"/>
              </a:rPr>
              <a:t>MONTHLY PARTICIPATION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7FD3E0"/>
                </a:solidFill>
                <a:latin typeface="Calibri"/>
              </a:rPr>
              <a:t>Share of enrolled students who opened at least one chapter this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377440"/>
            <a:ext cx="3504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B03535"/>
                </a:solidFill>
                <a:latin typeface="Calibri"/>
              </a:rPr>
              <a:t>Below 25%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7FD3E0"/>
                </a:solidFill>
                <a:latin typeface="Calibri"/>
              </a:rPr>
              <a:t>At risk — stop and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377440"/>
            <a:ext cx="1645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7FD3E0"/>
                </a:solidFill>
                <a:latin typeface="Calibri"/>
              </a:rPr>
              <a:t>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377440"/>
            <a:ext cx="140177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3AA76D"/>
                </a:solidFill>
                <a:latin typeface="Calibri"/>
              </a:rPr>
              <a:t>Above 50%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7FD3E0"/>
                </a:solidFill>
                <a:latin typeface="Calibri"/>
              </a:rPr>
              <a:t>On track — scale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85800" y="3840480"/>
          <a:ext cx="1078992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5486400"/>
                <a:gridCol w="137160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we also watch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Who acts on it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Participation rate per campus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Which campuses are engaged, and which need a teacher's nudge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Campus principal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Scans per printed batch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Which notebook print run actually worked — the marketing number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Marketing / HQ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Average score per chapter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Which chapters the cohort actually struggles with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Subject teacher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Share of students reaching 50%+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Whether the programme is lifting the middle, not just the top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Head of school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Points redeemed as bursary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Actual cost to the school, against the 0.5–1% cap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Finance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5800" y="6053328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9AA7B0"/>
                </a:solidFill>
                <a:latin typeface="Calibri"/>
              </a:rPr>
              <a:t>The teacher-facing report is not a by-product. It is the reason teachers support the programme instead of quietly resenting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6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0B6B7D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0B6B7D"/>
                </a:solidFill>
                <a:latin typeface="Calibri"/>
              </a:rPr>
              <a:t>WHAT IT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16232B"/>
                </a:solidFill>
                <a:latin typeface="Calibri"/>
              </a:rPr>
              <a:t>Almost nothing to start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2194560"/>
          <a:ext cx="1078992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194560"/>
                <a:gridCol w="4754880"/>
              </a:tblGrid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109728" marR="73152" marT="36576" marB="36576" anchor="ctr">
                    <a:solidFill>
                      <a:srgbClr val="0F3D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QR code printed on the notebook cover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~PKR 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You are already printing these. This is a design change.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Access code inside the front cover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~PKR 0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Printed by the school alongside the class list.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The application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PKR 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No licences, no hosting minimum, no vendor. Runs on one small server.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Deployment to 16 campuses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Minimal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Server-side software update, not a campus-by-campus installation.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Merit bursary pool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0.5–1% of fee revenue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Capped, published, and the real cost. Budget it deliberately.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Inter-school championship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Per-event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32B"/>
                          </a:solidFill>
                          <a:latin typeface="Calibri"/>
                        </a:rPr>
                        <a:t>Sponsorship-funded. Do not run phase 1 on sponsor money.</a:t>
                      </a:r>
                    </a:p>
                  </a:txBody>
                  <a:tcPr marL="109728" marR="73152" marT="36576" marB="36576" anchor="ctr">
                    <a:solidFill>
                      <a:srgbClr val="EFF3F4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85800" y="5486400"/>
            <a:ext cx="10820095" cy="658368"/>
          </a:xfrm>
          <a:prstGeom prst="roundRect">
            <a:avLst>
              <a:gd name="adj" fmla="val 6000"/>
            </a:avLst>
          </a:prstGeom>
          <a:solidFill>
            <a:srgbClr val="E7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669280"/>
            <a:ext cx="102714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0B6B7D"/>
                </a:solidFill>
                <a:latin typeface="Calibri"/>
              </a:rPr>
              <a:t>The expensive part is not software. </a:t>
            </a:r>
            <a:r>
              <a:rPr sz="1300" b="0" i="0">
                <a:solidFill>
                  <a:srgbClr val="16232B"/>
                </a:solidFill>
                <a:latin typeface="Calibri"/>
              </a:rPr>
              <a:t>It is teacher adoption, and it is solved by giving teachers something they want: a free, live picture of which chapters their own class is weak 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42855" y="641908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7FD3E0"/>
                </a:solidFill>
                <a:latin typeface="Calibri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7FD3E0"/>
                </a:solidFill>
                <a:latin typeface="Calibri"/>
              </a:rPr>
              <a:t>TEFOS </a:t>
            </a:r>
            <a:r>
              <a:rPr sz="1000" b="1" i="0">
                <a:solidFill>
                  <a:srgbClr val="9AA7B0"/>
                </a:solidFill>
                <a:latin typeface="Calibri"/>
              </a:rPr>
              <a:t>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FD98A"/>
                </a:solidFill>
                <a:latin typeface="Calibri"/>
              </a:rPr>
              <a:t>WHAT WE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0467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Three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7FD3E0"/>
                </a:solidFill>
                <a:latin typeface="Calibri"/>
              </a:rPr>
              <a:t>Nothing here needs a new budget line. All three are policy choices.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10820095" cy="1051560"/>
          </a:xfrm>
          <a:prstGeom prst="roundRect">
            <a:avLst>
              <a:gd name="adj" fmla="val 6000"/>
            </a:avLst>
          </a:prstGeom>
          <a:solidFill>
            <a:srgbClr val="14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45720" cy="10515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6517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D9A441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57860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Name a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615184"/>
            <a:ext cx="5333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7FD3E0"/>
                </a:solidFill>
                <a:latin typeface="Calibri"/>
              </a:rPr>
              <a:t>One class, one subject, one campus. Six weeks. A science teacher who volunteers, not the most eager head of department.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84448"/>
            <a:ext cx="10820095" cy="1051560"/>
          </a:xfrm>
          <a:prstGeom prst="roundRect">
            <a:avLst>
              <a:gd name="adj" fmla="val 6000"/>
            </a:avLst>
          </a:prstGeom>
          <a:solidFill>
            <a:srgbClr val="14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84448"/>
            <a:ext cx="45720" cy="10515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858768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D9A441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785615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Agree the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822191"/>
            <a:ext cx="5333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7FD3E0"/>
                </a:solidFill>
                <a:latin typeface="Calibri"/>
              </a:rPr>
              <a:t>“Merit bursary”, never “earn your own fee”. And quiz points never decide Head Boy, monitors or prefects — that stays exactly as it is today.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91456"/>
            <a:ext cx="10820095" cy="1051560"/>
          </a:xfrm>
          <a:prstGeom prst="roundRect">
            <a:avLst>
              <a:gd name="adj" fmla="val 6000"/>
            </a:avLst>
          </a:prstGeom>
          <a:solidFill>
            <a:srgbClr val="144A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791456"/>
            <a:ext cx="45720" cy="105156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065776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D9A441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9926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Open the operator conversation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5029200"/>
            <a:ext cx="5333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7FD3E0"/>
                </a:solidFill>
                <a:latin typeface="Calibri"/>
              </a:rPr>
              <a:t>Zero-rated data on the quiz host, and a first look at sponsoring the inter-school championship. Both are worth more than the software.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8076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1">
                <a:solidFill>
                  <a:srgbClr val="FFD98A"/>
                </a:solidFill>
                <a:latin typeface="Calibri"/>
              </a:rPr>
              <a:t>Total cost to pilot: the price of six weeks of one teacher's goodwill.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011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D98A"/>
                </a:solidFill>
                <a:latin typeface="Calibri"/>
              </a:rPr>
              <a:t>THE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96012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It is not a quiz app.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3400" b="1" i="0">
                <a:solidFill>
                  <a:srgbClr val="7FD3E0"/>
                </a:solidFill>
                <a:latin typeface="Calibri"/>
              </a:rPr>
              <a:t>It is a reason to open the notebook.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617720"/>
            <a:ext cx="1371600" cy="4114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892040"/>
            <a:ext cx="8686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7FD3E0"/>
                </a:solidFill>
                <a:latin typeface="Calibri"/>
              </a:rPr>
              <a:t>Every other school initiative asks a student to do something extra. This one pays them for what they were already doing — which is why it will still be running in March.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